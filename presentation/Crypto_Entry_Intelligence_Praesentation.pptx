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B47C8FF-938B-4195-8360-93E4D8ADA5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9A9BAA-92BC-4DD8-895F-CE91005E0A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36F6B1-436C-4840-8D0D-876472BAED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E6B914-DF8D-46AF-BCEB-DCD1EA77A9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CD59F-1A32-44C7-B92E-834C7725E1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775B8D-A24D-4039-8823-610B5AE4DF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3CC96-6582-44F9-AAFB-4F5C077A0B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38474-A37B-4732-80FC-CCB4BAB770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F01D71-F852-401F-A6C0-404E495C3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33A0DE-C6DB-428C-BCAA-834CC32411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5E93B1-4A3E-4D35-8173-645046193C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5F11E8-DD5D-4445-8F39-B348874BAB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509E1-99F0-45BA-BBDA-E8AC57DEED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58440" y="932760"/>
            <a:ext cx="52574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CRYPTO ENTRY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76800" y="2267640"/>
            <a:ext cx="5120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Datenbasierte Analyse, Validierung und Visualisierung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von Einstiegssignalen im Kryptowährungshandel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76800" y="3273480"/>
            <a:ext cx="529920" cy="45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76800" y="3456360"/>
            <a:ext cx="516600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Funktionieren Trading-Signale wirklich 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oder sehen sie nur im Nachhinein gut aus?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76800" y="480060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49880" y="4883040"/>
            <a:ext cx="1270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HISTORISCHE DATEN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2221920" y="4800600"/>
            <a:ext cx="1243080" cy="310680"/>
          </a:xfrm>
          <a:prstGeom prst="roundRect">
            <a:avLst>
              <a:gd name="adj" fmla="val 17647"/>
            </a:avLst>
          </a:prstGeom>
          <a:solidFill>
            <a:srgbClr val="0A1828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2295000" y="4883040"/>
            <a:ext cx="1096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FAIRER TEST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3593520" y="4800600"/>
            <a:ext cx="1481040" cy="310680"/>
          </a:xfrm>
          <a:prstGeom prst="roundRect">
            <a:avLst>
              <a:gd name="adj" fmla="val 17647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3666600" y="4883040"/>
            <a:ext cx="1334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POWER BI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76800" y="56509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Mohammad Amin Zamen Ali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437520" y="786240"/>
            <a:ext cx="5010480" cy="5257440"/>
          </a:xfrm>
          <a:prstGeom prst="roundRect">
            <a:avLst>
              <a:gd name="adj" fmla="val 1460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  <a:effectLst>
            <a:outerShdw blurRad="25560" dist="1476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830640" y="1115640"/>
            <a:ext cx="749520" cy="7495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A1828">
              <a:alpha val="85000"/>
            </a:srgbClr>
          </a:solidFill>
          <a:ln w="228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967800" y="127116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₿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818120" y="12434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SIGNAL SCAN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818120" y="149976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historische Kursbewegung · regelbasiert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geprüft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 flipV="1">
            <a:off x="6912720" y="4599360"/>
            <a:ext cx="356760" cy="24696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269480" y="4599360"/>
            <a:ext cx="365760" cy="13716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 flipV="1">
            <a:off x="7635240" y="4187880"/>
            <a:ext cx="365760" cy="54864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8001000" y="4187880"/>
            <a:ext cx="365760" cy="13716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 flipV="1">
            <a:off x="8366760" y="3785400"/>
            <a:ext cx="365760" cy="53964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8732520" y="3785400"/>
            <a:ext cx="365760" cy="10080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 flipV="1">
            <a:off x="9098280" y="3410640"/>
            <a:ext cx="365760" cy="47556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9464040" y="3410640"/>
            <a:ext cx="365760" cy="15552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 flipV="1">
            <a:off x="9829800" y="2926080"/>
            <a:ext cx="365760" cy="64008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10195560" y="2926080"/>
            <a:ext cx="365760" cy="18288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 flipV="1">
            <a:off x="10561320" y="2423160"/>
            <a:ext cx="347400" cy="685800"/>
          </a:xfrm>
          <a:prstGeom prst="line">
            <a:avLst/>
          </a:prstGeom>
          <a:ln w="279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156800" y="3282480"/>
            <a:ext cx="360" cy="23148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7086600" y="3383280"/>
            <a:ext cx="140400" cy="16056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7609320" y="3212280"/>
            <a:ext cx="360" cy="271440"/>
          </a:xfrm>
          <a:prstGeom prst="line">
            <a:avLst/>
          </a:prstGeom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7539120" y="3423600"/>
            <a:ext cx="140400" cy="160560"/>
          </a:xfrm>
          <a:prstGeom prst="rect">
            <a:avLst/>
          </a:prstGeom>
          <a:solidFill>
            <a:srgbClr val="FF5D7A">
              <a:alpha val="88000"/>
            </a:srgbClr>
          </a:solidFill>
          <a:ln w="1016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8062200" y="3353040"/>
            <a:ext cx="360" cy="26136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7992000" y="3433680"/>
            <a:ext cx="140400" cy="16056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8514720" y="3081240"/>
            <a:ext cx="360" cy="30204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8444520" y="3151800"/>
            <a:ext cx="140400" cy="16056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8967240" y="3131640"/>
            <a:ext cx="360" cy="321840"/>
          </a:xfrm>
          <a:prstGeom prst="line">
            <a:avLst/>
          </a:prstGeom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8897040" y="3171960"/>
            <a:ext cx="140400" cy="160560"/>
          </a:xfrm>
          <a:prstGeom prst="rect">
            <a:avLst/>
          </a:prstGeom>
          <a:solidFill>
            <a:srgbClr val="FF5D7A">
              <a:alpha val="88000"/>
            </a:srgbClr>
          </a:solidFill>
          <a:ln w="1016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9420120" y="3192120"/>
            <a:ext cx="360" cy="32184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9349920" y="3282840"/>
            <a:ext cx="140400" cy="16056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9872640" y="2930400"/>
            <a:ext cx="360" cy="35208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9802440" y="3011040"/>
            <a:ext cx="140400" cy="16056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10325160" y="2970720"/>
            <a:ext cx="360" cy="402480"/>
          </a:xfrm>
          <a:prstGeom prst="line">
            <a:avLst/>
          </a:prstGeom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10254960" y="3051360"/>
            <a:ext cx="140400" cy="160560"/>
          </a:xfrm>
          <a:prstGeom prst="rect">
            <a:avLst/>
          </a:prstGeom>
          <a:solidFill>
            <a:srgbClr val="FF5D7A">
              <a:alpha val="88000"/>
            </a:srgbClr>
          </a:solidFill>
          <a:ln w="1016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7602480" y="3899160"/>
            <a:ext cx="522720" cy="52272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7745040" y="4041720"/>
            <a:ext cx="237240" cy="23724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9019800" y="3139920"/>
            <a:ext cx="522720" cy="52272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9162360" y="3282840"/>
            <a:ext cx="237240" cy="237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10508400" y="2141640"/>
            <a:ext cx="563040" cy="56304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10661760" y="2295000"/>
            <a:ext cx="255600" cy="2556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6876360" y="5193720"/>
            <a:ext cx="39589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Drei auffällige Stellen im Chart.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Aber erst die systematische Prüfung zeigt,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ob daraus wirklich ein belastbares Signal wird.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01 · DAS PROBLEM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Warum reicht ein schöner Chart nicht aus?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 einzelnes gutes Beispiel beweist noch nicht, dass eine Regel zuverlässig funktioniert.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621720" y="1938600"/>
            <a:ext cx="7177680" cy="4068720"/>
          </a:xfrm>
          <a:prstGeom prst="roundRect">
            <a:avLst>
              <a:gd name="adj" fmla="val 1798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932760" y="22219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RÜCKBLICK IM CHART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932400" y="3227760"/>
            <a:ext cx="64742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932400" y="3776400"/>
            <a:ext cx="64742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932400" y="4325040"/>
            <a:ext cx="64742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932400" y="4873680"/>
            <a:ext cx="64742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 flipV="1">
            <a:off x="1051560" y="4864320"/>
            <a:ext cx="365760" cy="39348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1417320" y="4864320"/>
            <a:ext cx="365760" cy="16488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 flipV="1">
            <a:off x="1783080" y="4526280"/>
            <a:ext cx="365760" cy="50292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/>
          <p:cNvSpPr/>
          <p:nvPr/>
        </p:nvSpPr>
        <p:spPr>
          <a:xfrm>
            <a:off x="2148840" y="4526280"/>
            <a:ext cx="365760" cy="13716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 flipV="1">
            <a:off x="2514600" y="4187880"/>
            <a:ext cx="365760" cy="47556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2880360" y="4187880"/>
            <a:ext cx="365760" cy="1278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 flipV="1">
            <a:off x="3246120" y="3749040"/>
            <a:ext cx="365760" cy="56664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/>
          <p:cNvSpPr/>
          <p:nvPr/>
        </p:nvSpPr>
        <p:spPr>
          <a:xfrm>
            <a:off x="3611880" y="3749040"/>
            <a:ext cx="365760" cy="2376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 flipV="1">
            <a:off x="3977640" y="3529440"/>
            <a:ext cx="365760" cy="4572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9"/>
          <p:cNvSpPr/>
          <p:nvPr/>
        </p:nvSpPr>
        <p:spPr>
          <a:xfrm>
            <a:off x="4343400" y="3529440"/>
            <a:ext cx="365760" cy="14616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/>
          <p:cNvSpPr/>
          <p:nvPr/>
        </p:nvSpPr>
        <p:spPr>
          <a:xfrm flipV="1">
            <a:off x="4709160" y="3246120"/>
            <a:ext cx="365760" cy="42948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/>
          <p:cNvSpPr/>
          <p:nvPr/>
        </p:nvSpPr>
        <p:spPr>
          <a:xfrm>
            <a:off x="5074920" y="3246120"/>
            <a:ext cx="365760" cy="1188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 flipV="1">
            <a:off x="5440680" y="2825280"/>
            <a:ext cx="365760" cy="53964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3"/>
          <p:cNvSpPr/>
          <p:nvPr/>
        </p:nvSpPr>
        <p:spPr>
          <a:xfrm>
            <a:off x="5806440" y="2825280"/>
            <a:ext cx="365760" cy="1188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 flipV="1">
            <a:off x="6172200" y="2496240"/>
            <a:ext cx="365760" cy="44784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5"/>
          <p:cNvSpPr/>
          <p:nvPr/>
        </p:nvSpPr>
        <p:spPr>
          <a:xfrm>
            <a:off x="6537960" y="2496240"/>
            <a:ext cx="457200" cy="22860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 flipV="1">
            <a:off x="6995160" y="2331720"/>
            <a:ext cx="320040" cy="393120"/>
          </a:xfrm>
          <a:prstGeom prst="line">
            <a:avLst/>
          </a:prstGeom>
          <a:ln w="2540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/>
          <p:cNvSpPr/>
          <p:nvPr/>
        </p:nvSpPr>
        <p:spPr>
          <a:xfrm>
            <a:off x="3081600" y="3246120"/>
            <a:ext cx="603000" cy="6030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3246120" y="3410640"/>
            <a:ext cx="273960" cy="273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9"/>
          <p:cNvSpPr/>
          <p:nvPr/>
        </p:nvSpPr>
        <p:spPr>
          <a:xfrm>
            <a:off x="2148840" y="2514600"/>
            <a:ext cx="1992960" cy="639720"/>
          </a:xfrm>
          <a:prstGeom prst="roundRect">
            <a:avLst>
              <a:gd name="adj" fmla="val 10000"/>
            </a:avLst>
          </a:prstGeom>
          <a:solidFill>
            <a:srgbClr val="140F2C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/>
          <p:cNvSpPr/>
          <p:nvPr/>
        </p:nvSpPr>
        <p:spPr>
          <a:xfrm>
            <a:off x="2331720" y="2660760"/>
            <a:ext cx="16272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9E1FF"/>
                </a:solidFill>
                <a:effectLst/>
                <a:uFillTx/>
                <a:latin typeface="Aptos"/>
                <a:ea typeface="Aptos"/>
              </a:rPr>
              <a:t>„Hier wäre ein guter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9E1FF"/>
                </a:solidFill>
                <a:effectLst/>
                <a:uFillTx/>
                <a:latin typeface="Aptos"/>
                <a:ea typeface="Aptos"/>
              </a:rPr>
              <a:t>Einstieg gewesen.“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1"/>
          <p:cNvSpPr/>
          <p:nvPr/>
        </p:nvSpPr>
        <p:spPr>
          <a:xfrm>
            <a:off x="3246120" y="3154680"/>
            <a:ext cx="118800" cy="320040"/>
          </a:xfrm>
          <a:prstGeom prst="line">
            <a:avLst/>
          </a:prstGeom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/>
          <p:cNvSpPr/>
          <p:nvPr/>
        </p:nvSpPr>
        <p:spPr>
          <a:xfrm>
            <a:off x="941760" y="549540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Im Nachhinein kennen wir den weiteren Kursverlauf.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/>
          <p:cNvSpPr/>
          <p:nvPr/>
        </p:nvSpPr>
        <p:spPr>
          <a:xfrm>
            <a:off x="8156520" y="20574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Die bessere Frage ist: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4"/>
          <p:cNvSpPr/>
          <p:nvPr/>
        </p:nvSpPr>
        <p:spPr>
          <a:xfrm>
            <a:off x="8156520" y="2414160"/>
            <a:ext cx="324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War das auch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wirklich oft so?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5"/>
          <p:cNvSpPr/>
          <p:nvPr/>
        </p:nvSpPr>
        <p:spPr>
          <a:xfrm>
            <a:off x="8156520" y="3401640"/>
            <a:ext cx="3273120" cy="493560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6"/>
          <p:cNvSpPr/>
          <p:nvPr/>
        </p:nvSpPr>
        <p:spPr>
          <a:xfrm>
            <a:off x="8302680" y="35478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7"/>
          <p:cNvSpPr/>
          <p:nvPr/>
        </p:nvSpPr>
        <p:spPr>
          <a:xfrm>
            <a:off x="8732520" y="352044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Wie oft trat das Signal auf?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8"/>
          <p:cNvSpPr/>
          <p:nvPr/>
        </p:nvSpPr>
        <p:spPr>
          <a:xfrm>
            <a:off x="8156520" y="4032360"/>
            <a:ext cx="3273120" cy="493560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9"/>
          <p:cNvSpPr/>
          <p:nvPr/>
        </p:nvSpPr>
        <p:spPr>
          <a:xfrm>
            <a:off x="8302680" y="417888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0"/>
          <p:cNvSpPr/>
          <p:nvPr/>
        </p:nvSpPr>
        <p:spPr>
          <a:xfrm>
            <a:off x="8732520" y="415152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Wie oft war das Ergebnis positiv?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1"/>
          <p:cNvSpPr/>
          <p:nvPr/>
        </p:nvSpPr>
        <p:spPr>
          <a:xfrm>
            <a:off x="8156520" y="4663440"/>
            <a:ext cx="3273120" cy="493560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2"/>
          <p:cNvSpPr/>
          <p:nvPr/>
        </p:nvSpPr>
        <p:spPr>
          <a:xfrm>
            <a:off x="8302680" y="48096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3"/>
          <p:cNvSpPr/>
          <p:nvPr/>
        </p:nvSpPr>
        <p:spPr>
          <a:xfrm>
            <a:off x="8732520" y="478224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Wie hoch war die Rendite?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4"/>
          <p:cNvSpPr/>
          <p:nvPr/>
        </p:nvSpPr>
        <p:spPr>
          <a:xfrm>
            <a:off x="8156520" y="5294520"/>
            <a:ext cx="3273120" cy="493560"/>
          </a:xfrm>
          <a:prstGeom prst="roundRect">
            <a:avLst>
              <a:gd name="adj" fmla="val 14815"/>
            </a:avLst>
          </a:prstGeom>
          <a:solidFill>
            <a:srgbClr val="0C2A40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5"/>
          <p:cNvSpPr/>
          <p:nvPr/>
        </p:nvSpPr>
        <p:spPr>
          <a:xfrm>
            <a:off x="8302680" y="544068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6"/>
          <p:cNvSpPr/>
          <p:nvPr/>
        </p:nvSpPr>
        <p:spPr>
          <a:xfrm>
            <a:off x="8732520" y="541332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Was bleibt nach Kosten übrig?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02 · GRUNDLAGEN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Vier Begriffe reichen für den Einstieg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Erst die Idee verstehen – danach den Fachbegriff.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621720" y="1938600"/>
            <a:ext cx="2678760" cy="3584160"/>
          </a:xfrm>
          <a:prstGeom prst="roundRect">
            <a:avLst>
              <a:gd name="adj" fmla="val 2730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822960" y="2139840"/>
            <a:ext cx="310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822960" y="4178880"/>
            <a:ext cx="2276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Kurskerze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822960" y="4645080"/>
            <a:ext cx="227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Zeigt die Preisbewegung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in einem Zeitraum.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3502080" y="1938600"/>
            <a:ext cx="2678760" cy="3584160"/>
          </a:xfrm>
          <a:prstGeom prst="roundRect">
            <a:avLst>
              <a:gd name="adj" fmla="val 2730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9"/>
          <p:cNvSpPr/>
          <p:nvPr/>
        </p:nvSpPr>
        <p:spPr>
          <a:xfrm>
            <a:off x="3703320" y="2139840"/>
            <a:ext cx="310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3703320" y="4178880"/>
            <a:ext cx="2276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Zeitrahmen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3703320" y="4645080"/>
            <a:ext cx="227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Bestimmt, wie viel Zeit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eine Kerze darstellt.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6382440" y="1938600"/>
            <a:ext cx="2678760" cy="3584160"/>
          </a:xfrm>
          <a:prstGeom prst="roundRect">
            <a:avLst>
              <a:gd name="adj" fmla="val 2730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6583680" y="2139840"/>
            <a:ext cx="310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4"/>
          <p:cNvSpPr/>
          <p:nvPr/>
        </p:nvSpPr>
        <p:spPr>
          <a:xfrm>
            <a:off x="6583680" y="4178880"/>
            <a:ext cx="2276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Signal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6583680" y="4645080"/>
            <a:ext cx="227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Eine feste Regel erkennt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einen möglichen Einstieg.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6"/>
          <p:cNvSpPr/>
          <p:nvPr/>
        </p:nvSpPr>
        <p:spPr>
          <a:xfrm>
            <a:off x="9262800" y="1938600"/>
            <a:ext cx="2313000" cy="3584160"/>
          </a:xfrm>
          <a:prstGeom prst="roundRect">
            <a:avLst>
              <a:gd name="adj" fmla="val 3162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9464040" y="2139840"/>
            <a:ext cx="310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8"/>
          <p:cNvSpPr/>
          <p:nvPr/>
        </p:nvSpPr>
        <p:spPr>
          <a:xfrm>
            <a:off x="9464040" y="4178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Backtest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9464040" y="4645080"/>
            <a:ext cx="1910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Historische Daten zeigen: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Was wäre damals passiert?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1709640" y="2496240"/>
            <a:ext cx="360" cy="142632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1444680" y="2862000"/>
            <a:ext cx="529920" cy="603000"/>
          </a:xfrm>
          <a:prstGeom prst="rect">
            <a:avLst/>
          </a:prstGeom>
          <a:solidFill>
            <a:srgbClr val="00D9FF">
              <a:alpha val="82000"/>
            </a:srgbClr>
          </a:solidFill>
          <a:ln w="1524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2"/>
          <p:cNvSpPr/>
          <p:nvPr/>
        </p:nvSpPr>
        <p:spPr>
          <a:xfrm>
            <a:off x="2048400" y="24505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Hoch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3"/>
          <p:cNvSpPr/>
          <p:nvPr/>
        </p:nvSpPr>
        <p:spPr>
          <a:xfrm>
            <a:off x="2048400" y="29260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Start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4"/>
          <p:cNvSpPr/>
          <p:nvPr/>
        </p:nvSpPr>
        <p:spPr>
          <a:xfrm>
            <a:off x="2048400" y="33285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Ende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5"/>
          <p:cNvSpPr/>
          <p:nvPr/>
        </p:nvSpPr>
        <p:spPr>
          <a:xfrm>
            <a:off x="2048400" y="374004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Tief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6"/>
          <p:cNvSpPr/>
          <p:nvPr/>
        </p:nvSpPr>
        <p:spPr>
          <a:xfrm>
            <a:off x="3968640" y="2788920"/>
            <a:ext cx="585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Aptos Display"/>
                <a:ea typeface="Aptos Display"/>
              </a:rPr>
              <a:t>1h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7"/>
          <p:cNvSpPr/>
          <p:nvPr/>
        </p:nvSpPr>
        <p:spPr>
          <a:xfrm>
            <a:off x="5358240" y="2788920"/>
            <a:ext cx="585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4h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8"/>
          <p:cNvSpPr/>
          <p:nvPr/>
        </p:nvSpPr>
        <p:spPr>
          <a:xfrm>
            <a:off x="4206240" y="3309840"/>
            <a:ext cx="1206720" cy="360"/>
          </a:xfrm>
          <a:prstGeom prst="line">
            <a:avLst/>
          </a:prstGeom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9"/>
          <p:cNvSpPr/>
          <p:nvPr/>
        </p:nvSpPr>
        <p:spPr>
          <a:xfrm>
            <a:off x="4242600" y="3712320"/>
            <a:ext cx="360" cy="356760"/>
          </a:xfrm>
          <a:prstGeom prst="line">
            <a:avLst/>
          </a:prstGeom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0"/>
          <p:cNvSpPr/>
          <p:nvPr/>
        </p:nvSpPr>
        <p:spPr>
          <a:xfrm>
            <a:off x="4192560" y="3803760"/>
            <a:ext cx="100080" cy="118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1"/>
          <p:cNvSpPr/>
          <p:nvPr/>
        </p:nvSpPr>
        <p:spPr>
          <a:xfrm>
            <a:off x="4535280" y="3712320"/>
            <a:ext cx="360" cy="356760"/>
          </a:xfrm>
          <a:prstGeom prst="line">
            <a:avLst/>
          </a:prstGeom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2"/>
          <p:cNvSpPr/>
          <p:nvPr/>
        </p:nvSpPr>
        <p:spPr>
          <a:xfrm>
            <a:off x="4485240" y="3776400"/>
            <a:ext cx="100080" cy="118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3"/>
          <p:cNvSpPr/>
          <p:nvPr/>
        </p:nvSpPr>
        <p:spPr>
          <a:xfrm>
            <a:off x="4827960" y="3712320"/>
            <a:ext cx="360" cy="356760"/>
          </a:xfrm>
          <a:prstGeom prst="line">
            <a:avLst/>
          </a:prstGeom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4"/>
          <p:cNvSpPr/>
          <p:nvPr/>
        </p:nvSpPr>
        <p:spPr>
          <a:xfrm>
            <a:off x="4777920" y="3749040"/>
            <a:ext cx="100080" cy="118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5"/>
          <p:cNvSpPr/>
          <p:nvPr/>
        </p:nvSpPr>
        <p:spPr>
          <a:xfrm>
            <a:off x="5120640" y="3712320"/>
            <a:ext cx="360" cy="356760"/>
          </a:xfrm>
          <a:prstGeom prst="line">
            <a:avLst/>
          </a:prstGeom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6"/>
          <p:cNvSpPr/>
          <p:nvPr/>
        </p:nvSpPr>
        <p:spPr>
          <a:xfrm>
            <a:off x="5070240" y="3721680"/>
            <a:ext cx="100080" cy="118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7"/>
          <p:cNvSpPr/>
          <p:nvPr/>
        </p:nvSpPr>
        <p:spPr>
          <a:xfrm>
            <a:off x="6885360" y="2743200"/>
            <a:ext cx="1599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REGEL ERFÜLLT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8"/>
          <p:cNvSpPr/>
          <p:nvPr/>
        </p:nvSpPr>
        <p:spPr>
          <a:xfrm flipV="1">
            <a:off x="6729840" y="3922560"/>
            <a:ext cx="292680" cy="14652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9"/>
          <p:cNvSpPr/>
          <p:nvPr/>
        </p:nvSpPr>
        <p:spPr>
          <a:xfrm>
            <a:off x="7022520" y="3922560"/>
            <a:ext cx="292680" cy="11880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0"/>
          <p:cNvSpPr/>
          <p:nvPr/>
        </p:nvSpPr>
        <p:spPr>
          <a:xfrm flipV="1">
            <a:off x="7315200" y="3602520"/>
            <a:ext cx="283320" cy="43884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1"/>
          <p:cNvSpPr/>
          <p:nvPr/>
        </p:nvSpPr>
        <p:spPr>
          <a:xfrm>
            <a:off x="7598520" y="3602520"/>
            <a:ext cx="311040" cy="10980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2"/>
          <p:cNvSpPr/>
          <p:nvPr/>
        </p:nvSpPr>
        <p:spPr>
          <a:xfrm flipV="1">
            <a:off x="7909560" y="3246120"/>
            <a:ext cx="301680" cy="46620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3"/>
          <p:cNvSpPr/>
          <p:nvPr/>
        </p:nvSpPr>
        <p:spPr>
          <a:xfrm>
            <a:off x="8211240" y="3246120"/>
            <a:ext cx="365760" cy="127800"/>
          </a:xfrm>
          <a:prstGeom prst="line">
            <a:avLst/>
          </a:prstGeom>
          <a:ln w="2159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4"/>
          <p:cNvSpPr/>
          <p:nvPr/>
        </p:nvSpPr>
        <p:spPr>
          <a:xfrm>
            <a:off x="7256520" y="3251520"/>
            <a:ext cx="482400" cy="4824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5"/>
          <p:cNvSpPr/>
          <p:nvPr/>
        </p:nvSpPr>
        <p:spPr>
          <a:xfrm>
            <a:off x="7388280" y="3383280"/>
            <a:ext cx="219240" cy="219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6"/>
          <p:cNvSpPr/>
          <p:nvPr/>
        </p:nvSpPr>
        <p:spPr>
          <a:xfrm>
            <a:off x="7662600" y="3035520"/>
            <a:ext cx="360" cy="384120"/>
          </a:xfrm>
          <a:prstGeom prst="line">
            <a:avLst/>
          </a:prstGeom>
          <a:ln w="12700">
            <a:solidFill>
              <a:srgbClr val="8B5CF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7"/>
          <p:cNvSpPr/>
          <p:nvPr/>
        </p:nvSpPr>
        <p:spPr>
          <a:xfrm>
            <a:off x="9582840" y="3529440"/>
            <a:ext cx="1618560" cy="360"/>
          </a:xfrm>
          <a:prstGeom prst="line">
            <a:avLst/>
          </a:prstGeom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8"/>
          <p:cNvSpPr/>
          <p:nvPr/>
        </p:nvSpPr>
        <p:spPr>
          <a:xfrm>
            <a:off x="9546480" y="3456360"/>
            <a:ext cx="145800" cy="145800"/>
          </a:xfrm>
          <a:prstGeom prst="ellipse">
            <a:avLst/>
          </a:prstGeom>
          <a:solidFill>
            <a:srgbClr val="00D9FF">
              <a:alpha val="90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9"/>
          <p:cNvSpPr/>
          <p:nvPr/>
        </p:nvSpPr>
        <p:spPr>
          <a:xfrm>
            <a:off x="10031040" y="3456360"/>
            <a:ext cx="145800" cy="145800"/>
          </a:xfrm>
          <a:prstGeom prst="ellipse">
            <a:avLst/>
          </a:prstGeom>
          <a:solidFill>
            <a:srgbClr val="00D9FF">
              <a:alpha val="90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0"/>
          <p:cNvSpPr/>
          <p:nvPr/>
        </p:nvSpPr>
        <p:spPr>
          <a:xfrm>
            <a:off x="10515600" y="3456360"/>
            <a:ext cx="145800" cy="145800"/>
          </a:xfrm>
          <a:prstGeom prst="ellipse">
            <a:avLst/>
          </a:prstGeom>
          <a:solidFill>
            <a:srgbClr val="00D9FF">
              <a:alpha val="90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1"/>
          <p:cNvSpPr/>
          <p:nvPr/>
        </p:nvSpPr>
        <p:spPr>
          <a:xfrm>
            <a:off x="11009520" y="3456360"/>
            <a:ext cx="145800" cy="145800"/>
          </a:xfrm>
          <a:prstGeom prst="ellipse">
            <a:avLst/>
          </a:prstGeom>
          <a:solidFill>
            <a:srgbClr val="00D9FF">
              <a:alpha val="90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2"/>
          <p:cNvSpPr/>
          <p:nvPr/>
        </p:nvSpPr>
        <p:spPr>
          <a:xfrm>
            <a:off x="9473040" y="2971800"/>
            <a:ext cx="987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Vergangenheit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3"/>
          <p:cNvSpPr/>
          <p:nvPr/>
        </p:nvSpPr>
        <p:spPr>
          <a:xfrm>
            <a:off x="10497240" y="297180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Regel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4"/>
          <p:cNvSpPr/>
          <p:nvPr/>
        </p:nvSpPr>
        <p:spPr>
          <a:xfrm>
            <a:off x="9455040" y="3730680"/>
            <a:ext cx="1846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„Was wäre damals passiert?“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5"/>
          <p:cNvSpPr/>
          <p:nvPr/>
        </p:nvSpPr>
        <p:spPr>
          <a:xfrm>
            <a:off x="658440" y="5824800"/>
            <a:ext cx="1084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Mit diesen vier Grundlagen können wir jetzt die eigentliche Projektfrage verstehen.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03 · PROJEKTFRAGE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Meine Projektfrage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Was sollte mit historischen Kryptodaten wirklich geprüft werden?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914400" y="1874520"/>
            <a:ext cx="10378080" cy="1416960"/>
          </a:xfrm>
          <a:prstGeom prst="roundRect">
            <a:avLst>
              <a:gd name="adj" fmla="val 5161"/>
            </a:avLst>
          </a:prstGeom>
          <a:solidFill>
            <a:srgbClr val="071321"/>
          </a:solidFill>
          <a:ln w="13970">
            <a:solidFill>
              <a:srgbClr val="00D9FF"/>
            </a:solidFill>
            <a:round/>
          </a:ln>
          <a:effectLst>
            <a:outerShdw blurRad="25560" dist="1476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1325880" y="2221920"/>
            <a:ext cx="955512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Zeigen einfache Einstiegssignale in historischen Kryptodaten einen messbaren Nutzen 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auch nach Kosten und in verschiedenen Zeiträumen?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960120" y="3886200"/>
            <a:ext cx="2331360" cy="1170000"/>
          </a:xfrm>
          <a:prstGeom prst="roundRect">
            <a:avLst>
              <a:gd name="adj" fmla="val 6250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1124640" y="4050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1124640" y="4297680"/>
            <a:ext cx="2002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SIGNALIDEE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1124640" y="457200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Welche Regel erkennt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einen Einstieg?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3364920" y="4471200"/>
            <a:ext cx="23760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3675960" y="3886200"/>
            <a:ext cx="2331360" cy="1170000"/>
          </a:xfrm>
          <a:prstGeom prst="roundRect">
            <a:avLst>
              <a:gd name="adj" fmla="val 6250"/>
            </a:avLst>
          </a:prstGeom>
          <a:solidFill>
            <a:srgbClr val="0A1828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3840480" y="4050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3840480" y="4297680"/>
            <a:ext cx="2002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HISTORISCH TESTEN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4"/>
          <p:cNvSpPr/>
          <p:nvPr/>
        </p:nvSpPr>
        <p:spPr>
          <a:xfrm>
            <a:off x="3840480" y="457200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Kommt der Effekt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oft genug vor?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5"/>
          <p:cNvSpPr/>
          <p:nvPr/>
        </p:nvSpPr>
        <p:spPr>
          <a:xfrm>
            <a:off x="6080760" y="4471200"/>
            <a:ext cx="23760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6391800" y="3886200"/>
            <a:ext cx="2331360" cy="1170000"/>
          </a:xfrm>
          <a:prstGeom prst="roundRect">
            <a:avLst>
              <a:gd name="adj" fmla="val 6250"/>
            </a:avLst>
          </a:prstGeom>
          <a:solidFill>
            <a:srgbClr val="0A1828"/>
          </a:solidFill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6556320" y="4050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6556320" y="4297680"/>
            <a:ext cx="2002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KOSTEN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6556320" y="457200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Was bleibt nach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Gebühren übrig?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8796240" y="4471200"/>
            <a:ext cx="23796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1"/>
          <p:cNvSpPr/>
          <p:nvPr/>
        </p:nvSpPr>
        <p:spPr>
          <a:xfrm>
            <a:off x="9107280" y="3886200"/>
            <a:ext cx="2331360" cy="1170000"/>
          </a:xfrm>
          <a:prstGeom prst="roundRect">
            <a:avLst>
              <a:gd name="adj" fmla="val 6250"/>
            </a:avLst>
          </a:prstGeom>
          <a:solidFill>
            <a:srgbClr val="0A1828"/>
          </a:solidFill>
          <a:ln w="1397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2"/>
          <p:cNvSpPr/>
          <p:nvPr/>
        </p:nvSpPr>
        <p:spPr>
          <a:xfrm>
            <a:off x="9272160" y="4050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3"/>
          <p:cNvSpPr/>
          <p:nvPr/>
        </p:nvSpPr>
        <p:spPr>
          <a:xfrm>
            <a:off x="9272160" y="4297680"/>
            <a:ext cx="2002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BEWERTUNG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4"/>
          <p:cNvSpPr/>
          <p:nvPr/>
        </p:nvSpPr>
        <p:spPr>
          <a:xfrm>
            <a:off x="9272160" y="4572000"/>
            <a:ext cx="200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Ist das Ergebnis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wirklich stabil?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5"/>
          <p:cNvSpPr/>
          <p:nvPr/>
        </p:nvSpPr>
        <p:spPr>
          <a:xfrm>
            <a:off x="1097280" y="5623560"/>
            <a:ext cx="9966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Nicht: eine fertige Strategie verkaufen. Sondern: Regeln sachlich mit Daten prüfen.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04 · DATEN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Welche Daten habe ich verwendet?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Historische Marktdaten als Grundlage für die spätere Prüfung.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4"/>
          <p:cNvSpPr/>
          <p:nvPr/>
        </p:nvSpPr>
        <p:spPr>
          <a:xfrm>
            <a:off x="914400" y="2057400"/>
            <a:ext cx="685440" cy="685440"/>
          </a:xfrm>
          <a:prstGeom prst="ellipse">
            <a:avLst/>
          </a:prstGeom>
          <a:solidFill>
            <a:srgbClr val="0A1828"/>
          </a:solidFill>
          <a:ln w="190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987480" y="2185560"/>
            <a:ext cx="539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₿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6"/>
          <p:cNvSpPr/>
          <p:nvPr/>
        </p:nvSpPr>
        <p:spPr>
          <a:xfrm>
            <a:off x="822960" y="28346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BTC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7"/>
          <p:cNvSpPr/>
          <p:nvPr/>
        </p:nvSpPr>
        <p:spPr>
          <a:xfrm>
            <a:off x="594360" y="305424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Bitcoin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8"/>
          <p:cNvSpPr/>
          <p:nvPr/>
        </p:nvSpPr>
        <p:spPr>
          <a:xfrm>
            <a:off x="2606040" y="2057400"/>
            <a:ext cx="685440" cy="685440"/>
          </a:xfrm>
          <a:prstGeom prst="ellipse">
            <a:avLst/>
          </a:prstGeom>
          <a:solidFill>
            <a:srgbClr val="0A1828"/>
          </a:solidFill>
          <a:ln w="1905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9"/>
          <p:cNvSpPr/>
          <p:nvPr/>
        </p:nvSpPr>
        <p:spPr>
          <a:xfrm>
            <a:off x="2679120" y="2185560"/>
            <a:ext cx="539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B5CF6"/>
                </a:solidFill>
                <a:effectLst/>
                <a:uFillTx/>
                <a:latin typeface="Aptos Display"/>
                <a:ea typeface="Aptos Display"/>
              </a:rPr>
              <a:t>Ξ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0"/>
          <p:cNvSpPr/>
          <p:nvPr/>
        </p:nvSpPr>
        <p:spPr>
          <a:xfrm>
            <a:off x="2514600" y="28346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ETH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2286000" y="305424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Ethereum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2"/>
          <p:cNvSpPr/>
          <p:nvPr/>
        </p:nvSpPr>
        <p:spPr>
          <a:xfrm>
            <a:off x="4297680" y="2057400"/>
            <a:ext cx="685440" cy="685440"/>
          </a:xfrm>
          <a:prstGeom prst="ellipse">
            <a:avLst/>
          </a:prstGeom>
          <a:solidFill>
            <a:srgbClr val="0A1828"/>
          </a:solidFill>
          <a:ln w="1905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3"/>
          <p:cNvSpPr/>
          <p:nvPr/>
        </p:nvSpPr>
        <p:spPr>
          <a:xfrm>
            <a:off x="4370760" y="2185560"/>
            <a:ext cx="539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CE6A8"/>
                </a:solidFill>
                <a:effectLst/>
                <a:uFillTx/>
                <a:latin typeface="Aptos Display"/>
                <a:ea typeface="Aptos Display"/>
              </a:rPr>
              <a:t>◎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4"/>
          <p:cNvSpPr/>
          <p:nvPr/>
        </p:nvSpPr>
        <p:spPr>
          <a:xfrm>
            <a:off x="4206240" y="2834640"/>
            <a:ext cx="868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SOL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5"/>
          <p:cNvSpPr/>
          <p:nvPr/>
        </p:nvSpPr>
        <p:spPr>
          <a:xfrm>
            <a:off x="3977640" y="305424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Solana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6"/>
          <p:cNvSpPr/>
          <p:nvPr/>
        </p:nvSpPr>
        <p:spPr>
          <a:xfrm>
            <a:off x="5806440" y="1874520"/>
            <a:ext cx="5440320" cy="1078560"/>
          </a:xfrm>
          <a:prstGeom prst="roundRect">
            <a:avLst>
              <a:gd name="adj" fmla="val 6780"/>
            </a:avLst>
          </a:prstGeom>
          <a:solidFill>
            <a:srgbClr val="0A1828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7"/>
          <p:cNvSpPr/>
          <p:nvPr/>
        </p:nvSpPr>
        <p:spPr>
          <a:xfrm>
            <a:off x="6053400" y="203904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2021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8"/>
          <p:cNvSpPr/>
          <p:nvPr/>
        </p:nvSpPr>
        <p:spPr>
          <a:xfrm>
            <a:off x="10378440" y="203904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2025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9"/>
          <p:cNvSpPr/>
          <p:nvPr/>
        </p:nvSpPr>
        <p:spPr>
          <a:xfrm>
            <a:off x="6172200" y="2541960"/>
            <a:ext cx="4480560" cy="360"/>
          </a:xfrm>
          <a:prstGeom prst="line">
            <a:avLst/>
          </a:prstGeom>
          <a:ln w="2032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0"/>
          <p:cNvSpPr/>
          <p:nvPr/>
        </p:nvSpPr>
        <p:spPr>
          <a:xfrm>
            <a:off x="6117480" y="2487240"/>
            <a:ext cx="109440" cy="109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1"/>
          <p:cNvSpPr/>
          <p:nvPr/>
        </p:nvSpPr>
        <p:spPr>
          <a:xfrm>
            <a:off x="7242120" y="2487240"/>
            <a:ext cx="109440" cy="109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2"/>
          <p:cNvSpPr/>
          <p:nvPr/>
        </p:nvSpPr>
        <p:spPr>
          <a:xfrm>
            <a:off x="8357760" y="2487240"/>
            <a:ext cx="109440" cy="109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3"/>
          <p:cNvSpPr/>
          <p:nvPr/>
        </p:nvSpPr>
        <p:spPr>
          <a:xfrm>
            <a:off x="9473040" y="2487240"/>
            <a:ext cx="109440" cy="10944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4"/>
          <p:cNvSpPr/>
          <p:nvPr/>
        </p:nvSpPr>
        <p:spPr>
          <a:xfrm>
            <a:off x="10598040" y="2487240"/>
            <a:ext cx="109440" cy="109440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5"/>
          <p:cNvSpPr/>
          <p:nvPr/>
        </p:nvSpPr>
        <p:spPr>
          <a:xfrm>
            <a:off x="6995160" y="268848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5 Jahre historische Kursentwicklung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6"/>
          <p:cNvSpPr/>
          <p:nvPr/>
        </p:nvSpPr>
        <p:spPr>
          <a:xfrm>
            <a:off x="5074920" y="2578320"/>
            <a:ext cx="64008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7"/>
          <p:cNvSpPr/>
          <p:nvPr/>
        </p:nvSpPr>
        <p:spPr>
          <a:xfrm>
            <a:off x="914400" y="3913560"/>
            <a:ext cx="4845960" cy="1416960"/>
          </a:xfrm>
          <a:prstGeom prst="roundRect">
            <a:avLst>
              <a:gd name="adj" fmla="val 5161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8"/>
          <p:cNvSpPr/>
          <p:nvPr/>
        </p:nvSpPr>
        <p:spPr>
          <a:xfrm>
            <a:off x="1170360" y="416052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2 Zeitrahmen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9"/>
          <p:cNvSpPr/>
          <p:nvPr/>
        </p:nvSpPr>
        <p:spPr>
          <a:xfrm>
            <a:off x="2834640" y="416052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Aptos Display"/>
                <a:ea typeface="Aptos Display"/>
              </a:rPr>
              <a:t>1h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0"/>
          <p:cNvSpPr/>
          <p:nvPr/>
        </p:nvSpPr>
        <p:spPr>
          <a:xfrm>
            <a:off x="4114800" y="416052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4h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1"/>
          <p:cNvSpPr/>
          <p:nvPr/>
        </p:nvSpPr>
        <p:spPr>
          <a:xfrm>
            <a:off x="2926080" y="4736520"/>
            <a:ext cx="1737360" cy="360"/>
          </a:xfrm>
          <a:prstGeom prst="line">
            <a:avLst/>
          </a:prstGeom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2"/>
          <p:cNvSpPr/>
          <p:nvPr/>
        </p:nvSpPr>
        <p:spPr>
          <a:xfrm flipV="1">
            <a:off x="301752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3"/>
          <p:cNvSpPr/>
          <p:nvPr/>
        </p:nvSpPr>
        <p:spPr>
          <a:xfrm>
            <a:off x="297180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44"/>
          <p:cNvSpPr/>
          <p:nvPr/>
        </p:nvSpPr>
        <p:spPr>
          <a:xfrm flipV="1">
            <a:off x="329184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5"/>
          <p:cNvSpPr/>
          <p:nvPr/>
        </p:nvSpPr>
        <p:spPr>
          <a:xfrm>
            <a:off x="324612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6"/>
          <p:cNvSpPr/>
          <p:nvPr/>
        </p:nvSpPr>
        <p:spPr>
          <a:xfrm flipV="1">
            <a:off x="356616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7"/>
          <p:cNvSpPr/>
          <p:nvPr/>
        </p:nvSpPr>
        <p:spPr>
          <a:xfrm>
            <a:off x="352044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8"/>
          <p:cNvSpPr/>
          <p:nvPr/>
        </p:nvSpPr>
        <p:spPr>
          <a:xfrm flipV="1">
            <a:off x="384048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9"/>
          <p:cNvSpPr/>
          <p:nvPr/>
        </p:nvSpPr>
        <p:spPr>
          <a:xfrm>
            <a:off x="379476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0"/>
          <p:cNvSpPr/>
          <p:nvPr/>
        </p:nvSpPr>
        <p:spPr>
          <a:xfrm flipV="1">
            <a:off x="411480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51"/>
          <p:cNvSpPr/>
          <p:nvPr/>
        </p:nvSpPr>
        <p:spPr>
          <a:xfrm>
            <a:off x="406908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2"/>
          <p:cNvSpPr/>
          <p:nvPr/>
        </p:nvSpPr>
        <p:spPr>
          <a:xfrm flipV="1">
            <a:off x="4389120" y="4645080"/>
            <a:ext cx="360" cy="338400"/>
          </a:xfrm>
          <a:prstGeom prst="line">
            <a:avLst/>
          </a:prstGeom>
          <a:ln w="1143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53"/>
          <p:cNvSpPr/>
          <p:nvPr/>
        </p:nvSpPr>
        <p:spPr>
          <a:xfrm>
            <a:off x="4343400" y="4736520"/>
            <a:ext cx="91080" cy="91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4"/>
          <p:cNvSpPr/>
          <p:nvPr/>
        </p:nvSpPr>
        <p:spPr>
          <a:xfrm>
            <a:off x="5989320" y="3657600"/>
            <a:ext cx="5257440" cy="1672920"/>
          </a:xfrm>
          <a:prstGeom prst="roundRect">
            <a:avLst>
              <a:gd name="adj" fmla="val 4372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5"/>
          <p:cNvSpPr/>
          <p:nvPr/>
        </p:nvSpPr>
        <p:spPr>
          <a:xfrm>
            <a:off x="6309360" y="391356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Marktdaten pro Kerze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6"/>
          <p:cNvSpPr/>
          <p:nvPr/>
        </p:nvSpPr>
        <p:spPr>
          <a:xfrm>
            <a:off x="6309360" y="4343400"/>
            <a:ext cx="1234080" cy="273960"/>
          </a:xfrm>
          <a:prstGeom prst="roundRect">
            <a:avLst>
              <a:gd name="adj" fmla="val 13333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7"/>
          <p:cNvSpPr/>
          <p:nvPr/>
        </p:nvSpPr>
        <p:spPr>
          <a:xfrm>
            <a:off x="6382440" y="4416480"/>
            <a:ext cx="1078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Startpreis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8"/>
          <p:cNvSpPr/>
          <p:nvPr/>
        </p:nvSpPr>
        <p:spPr>
          <a:xfrm>
            <a:off x="7818120" y="4343400"/>
            <a:ext cx="1234080" cy="273960"/>
          </a:xfrm>
          <a:prstGeom prst="roundRect">
            <a:avLst>
              <a:gd name="adj" fmla="val 13333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9"/>
          <p:cNvSpPr/>
          <p:nvPr/>
        </p:nvSpPr>
        <p:spPr>
          <a:xfrm>
            <a:off x="7891200" y="4416480"/>
            <a:ext cx="1078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Höchster Preis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60"/>
          <p:cNvSpPr/>
          <p:nvPr/>
        </p:nvSpPr>
        <p:spPr>
          <a:xfrm>
            <a:off x="9326880" y="4343400"/>
            <a:ext cx="1234080" cy="273960"/>
          </a:xfrm>
          <a:prstGeom prst="roundRect">
            <a:avLst>
              <a:gd name="adj" fmla="val 13333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1"/>
          <p:cNvSpPr/>
          <p:nvPr/>
        </p:nvSpPr>
        <p:spPr>
          <a:xfrm>
            <a:off x="9399960" y="4416480"/>
            <a:ext cx="1078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Tiefster Preis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2"/>
          <p:cNvSpPr/>
          <p:nvPr/>
        </p:nvSpPr>
        <p:spPr>
          <a:xfrm>
            <a:off x="6309360" y="4745880"/>
            <a:ext cx="1234080" cy="273960"/>
          </a:xfrm>
          <a:prstGeom prst="roundRect">
            <a:avLst>
              <a:gd name="adj" fmla="val 13333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3"/>
          <p:cNvSpPr/>
          <p:nvPr/>
        </p:nvSpPr>
        <p:spPr>
          <a:xfrm>
            <a:off x="6382440" y="4818960"/>
            <a:ext cx="1078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Endpreis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64"/>
          <p:cNvSpPr/>
          <p:nvPr/>
        </p:nvSpPr>
        <p:spPr>
          <a:xfrm>
            <a:off x="7818120" y="4745880"/>
            <a:ext cx="1234080" cy="273960"/>
          </a:xfrm>
          <a:prstGeom prst="roundRect">
            <a:avLst>
              <a:gd name="adj" fmla="val 13333"/>
            </a:avLst>
          </a:prstGeom>
          <a:solidFill>
            <a:srgbClr val="0A1828"/>
          </a:solidFill>
          <a:ln w="10160">
            <a:solidFill>
              <a:srgbClr val="8B5CF6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5"/>
          <p:cNvSpPr/>
          <p:nvPr/>
        </p:nvSpPr>
        <p:spPr>
          <a:xfrm>
            <a:off x="7891200" y="4818960"/>
            <a:ext cx="1078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Volumen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6"/>
          <p:cNvSpPr/>
          <p:nvPr/>
        </p:nvSpPr>
        <p:spPr>
          <a:xfrm>
            <a:off x="914400" y="577908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Hauptquelle: Binance Public Data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7"/>
          <p:cNvSpPr/>
          <p:nvPr/>
        </p:nvSpPr>
        <p:spPr>
          <a:xfrm>
            <a:off x="4251960" y="577908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+ Coin Metrics für zusätzlichen Bitcoin-Marktkontext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8"/>
          <p:cNvSpPr/>
          <p:nvPr/>
        </p:nvSpPr>
        <p:spPr>
          <a:xfrm>
            <a:off x="914400" y="6053400"/>
            <a:ext cx="10240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Der zusätzliche Kontext wurde mitgeführt, war aber keine direkte Bedingung der fünf Signale.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05 · ABLAUF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So funktioniert mein Projekt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Von historischen Daten bis zur bewertbaren Analyse.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2423160" y="3300840"/>
            <a:ext cx="23760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5"/>
          <p:cNvSpPr/>
          <p:nvPr/>
        </p:nvSpPr>
        <p:spPr>
          <a:xfrm>
            <a:off x="4352400" y="3300840"/>
            <a:ext cx="23760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6"/>
          <p:cNvSpPr/>
          <p:nvPr/>
        </p:nvSpPr>
        <p:spPr>
          <a:xfrm>
            <a:off x="6281640" y="3300840"/>
            <a:ext cx="23796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8211240" y="3300840"/>
            <a:ext cx="23760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10140480" y="3300840"/>
            <a:ext cx="23796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9"/>
          <p:cNvSpPr/>
          <p:nvPr/>
        </p:nvSpPr>
        <p:spPr>
          <a:xfrm>
            <a:off x="77724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91440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91440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Historische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Daten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1305720" y="3977640"/>
            <a:ext cx="360" cy="8388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1280160" y="4014360"/>
            <a:ext cx="50760" cy="5832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680" rIns="90000" bIns="13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4"/>
          <p:cNvSpPr/>
          <p:nvPr/>
        </p:nvSpPr>
        <p:spPr>
          <a:xfrm>
            <a:off x="1470240" y="3951720"/>
            <a:ext cx="360" cy="99000"/>
          </a:xfrm>
          <a:prstGeom prst="line">
            <a:avLst/>
          </a:prstGeom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5"/>
          <p:cNvSpPr/>
          <p:nvPr/>
        </p:nvSpPr>
        <p:spPr>
          <a:xfrm>
            <a:off x="1444680" y="4028760"/>
            <a:ext cx="50760" cy="58320"/>
          </a:xfrm>
          <a:prstGeom prst="rect">
            <a:avLst/>
          </a:prstGeom>
          <a:solidFill>
            <a:srgbClr val="FF5D7A">
              <a:alpha val="88000"/>
            </a:srgbClr>
          </a:solidFill>
          <a:ln w="1016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680" rIns="90000" bIns="13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1634760" y="4003200"/>
            <a:ext cx="360" cy="9504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1609200" y="4032360"/>
            <a:ext cx="50760" cy="5832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680" rIns="90000" bIns="13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1799280" y="3904200"/>
            <a:ext cx="360" cy="109800"/>
          </a:xfrm>
          <a:prstGeom prst="line">
            <a:avLst/>
          </a:prstGeom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9"/>
          <p:cNvSpPr/>
          <p:nvPr/>
        </p:nvSpPr>
        <p:spPr>
          <a:xfrm>
            <a:off x="1774080" y="3930120"/>
            <a:ext cx="50760" cy="58320"/>
          </a:xfrm>
          <a:prstGeom prst="rect">
            <a:avLst/>
          </a:prstGeom>
          <a:solidFill>
            <a:srgbClr val="00D9FF">
              <a:alpha val="88000"/>
            </a:srgbClr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680" rIns="90000" bIns="13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0"/>
          <p:cNvSpPr/>
          <p:nvPr/>
        </p:nvSpPr>
        <p:spPr>
          <a:xfrm>
            <a:off x="270648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1"/>
          <p:cNvSpPr/>
          <p:nvPr/>
        </p:nvSpPr>
        <p:spPr>
          <a:xfrm>
            <a:off x="284364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2"/>
          <p:cNvSpPr/>
          <p:nvPr/>
        </p:nvSpPr>
        <p:spPr>
          <a:xfrm>
            <a:off x="284364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Daten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prüfen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3383280" y="3803760"/>
            <a:ext cx="273960" cy="31968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3CE6A8">
              <a:alpha val="95000"/>
            </a:srgbClr>
          </a:solidFill>
          <a:ln w="1143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3410640" y="3867840"/>
            <a:ext cx="2008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30914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5"/>
          <p:cNvSpPr/>
          <p:nvPr/>
        </p:nvSpPr>
        <p:spPr>
          <a:xfrm>
            <a:off x="463608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6"/>
          <p:cNvSpPr/>
          <p:nvPr/>
        </p:nvSpPr>
        <p:spPr>
          <a:xfrm>
            <a:off x="477324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7"/>
          <p:cNvSpPr/>
          <p:nvPr/>
        </p:nvSpPr>
        <p:spPr>
          <a:xfrm>
            <a:off x="477324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Signale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berechnen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8"/>
          <p:cNvSpPr/>
          <p:nvPr/>
        </p:nvSpPr>
        <p:spPr>
          <a:xfrm>
            <a:off x="5394960" y="3904560"/>
            <a:ext cx="127800" cy="127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9"/>
          <p:cNvSpPr/>
          <p:nvPr/>
        </p:nvSpPr>
        <p:spPr>
          <a:xfrm flipV="1">
            <a:off x="5138640" y="3913560"/>
            <a:ext cx="182880" cy="118800"/>
          </a:xfrm>
          <a:prstGeom prst="line">
            <a:avLst/>
          </a:prstGeom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0"/>
          <p:cNvSpPr/>
          <p:nvPr/>
        </p:nvSpPr>
        <p:spPr>
          <a:xfrm>
            <a:off x="5321520" y="3913560"/>
            <a:ext cx="137160" cy="54720"/>
          </a:xfrm>
          <a:prstGeom prst="line">
            <a:avLst/>
          </a:prstGeom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1"/>
          <p:cNvSpPr/>
          <p:nvPr/>
        </p:nvSpPr>
        <p:spPr>
          <a:xfrm flipV="1">
            <a:off x="5458680" y="3758040"/>
            <a:ext cx="182880" cy="210240"/>
          </a:xfrm>
          <a:prstGeom prst="line">
            <a:avLst/>
          </a:prstGeom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2"/>
          <p:cNvSpPr/>
          <p:nvPr/>
        </p:nvSpPr>
        <p:spPr>
          <a:xfrm>
            <a:off x="5641560" y="3758040"/>
            <a:ext cx="164880" cy="91440"/>
          </a:xfrm>
          <a:prstGeom prst="line">
            <a:avLst/>
          </a:prstGeom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3"/>
          <p:cNvSpPr/>
          <p:nvPr/>
        </p:nvSpPr>
        <p:spPr>
          <a:xfrm>
            <a:off x="656532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670248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5"/>
          <p:cNvSpPr/>
          <p:nvPr/>
        </p:nvSpPr>
        <p:spPr>
          <a:xfrm>
            <a:off x="670248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Trade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simulieren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6"/>
          <p:cNvSpPr/>
          <p:nvPr/>
        </p:nvSpPr>
        <p:spPr>
          <a:xfrm>
            <a:off x="6976800" y="3968280"/>
            <a:ext cx="777240" cy="360"/>
          </a:xfrm>
          <a:prstGeom prst="line">
            <a:avLst/>
          </a:prstGeom>
          <a:ln w="13970">
            <a:solidFill>
              <a:srgbClr val="00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7"/>
          <p:cNvSpPr/>
          <p:nvPr/>
        </p:nvSpPr>
        <p:spPr>
          <a:xfrm>
            <a:off x="6949440" y="3895200"/>
            <a:ext cx="145800" cy="14580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8"/>
          <p:cNvSpPr/>
          <p:nvPr/>
        </p:nvSpPr>
        <p:spPr>
          <a:xfrm>
            <a:off x="849492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9"/>
          <p:cNvSpPr/>
          <p:nvPr/>
        </p:nvSpPr>
        <p:spPr>
          <a:xfrm>
            <a:off x="863208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0"/>
          <p:cNvSpPr/>
          <p:nvPr/>
        </p:nvSpPr>
        <p:spPr>
          <a:xfrm>
            <a:off x="863208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Kosten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abziehen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1"/>
          <p:cNvSpPr/>
          <p:nvPr/>
        </p:nvSpPr>
        <p:spPr>
          <a:xfrm>
            <a:off x="9107280" y="38131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−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2"/>
          <p:cNvSpPr/>
          <p:nvPr/>
        </p:nvSpPr>
        <p:spPr>
          <a:xfrm>
            <a:off x="9299520" y="386784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%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3"/>
          <p:cNvSpPr/>
          <p:nvPr/>
        </p:nvSpPr>
        <p:spPr>
          <a:xfrm>
            <a:off x="10424160" y="2797920"/>
            <a:ext cx="1599840" cy="1416960"/>
          </a:xfrm>
          <a:prstGeom prst="roundRect">
            <a:avLst>
              <a:gd name="adj" fmla="val 5161"/>
            </a:avLst>
          </a:prstGeom>
          <a:solidFill>
            <a:srgbClr val="0A1828"/>
          </a:solidFill>
          <a:ln w="1397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4"/>
          <p:cNvSpPr/>
          <p:nvPr/>
        </p:nvSpPr>
        <p:spPr>
          <a:xfrm>
            <a:off x="10561320" y="29534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5"/>
          <p:cNvSpPr/>
          <p:nvPr/>
        </p:nvSpPr>
        <p:spPr>
          <a:xfrm>
            <a:off x="10561320" y="328284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Ergebnisse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vergleichen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6"/>
          <p:cNvSpPr/>
          <p:nvPr/>
        </p:nvSpPr>
        <p:spPr>
          <a:xfrm flipV="1">
            <a:off x="10863000" y="3895200"/>
            <a:ext cx="246960" cy="128160"/>
          </a:xfrm>
          <a:prstGeom prst="line">
            <a:avLst/>
          </a:prstGeom>
          <a:ln w="1524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7"/>
          <p:cNvSpPr/>
          <p:nvPr/>
        </p:nvSpPr>
        <p:spPr>
          <a:xfrm>
            <a:off x="11109960" y="3895200"/>
            <a:ext cx="228600" cy="45720"/>
          </a:xfrm>
          <a:prstGeom prst="line">
            <a:avLst/>
          </a:prstGeom>
          <a:ln w="1524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8"/>
          <p:cNvSpPr/>
          <p:nvPr/>
        </p:nvSpPr>
        <p:spPr>
          <a:xfrm flipV="1">
            <a:off x="11338560" y="3758040"/>
            <a:ext cx="219240" cy="182880"/>
          </a:xfrm>
          <a:prstGeom prst="line">
            <a:avLst/>
          </a:prstGeom>
          <a:ln w="1524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59"/>
          <p:cNvSpPr/>
          <p:nvPr/>
        </p:nvSpPr>
        <p:spPr>
          <a:xfrm>
            <a:off x="1325880" y="4800600"/>
            <a:ext cx="9555120" cy="703800"/>
          </a:xfrm>
          <a:prstGeom prst="roundRect">
            <a:avLst>
              <a:gd name="adj" fmla="val 10390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0"/>
          <p:cNvSpPr/>
          <p:nvPr/>
        </p:nvSpPr>
        <p:spPr>
          <a:xfrm>
            <a:off x="1572840" y="50018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Technische Umsetzung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61"/>
          <p:cNvSpPr/>
          <p:nvPr/>
        </p:nvSpPr>
        <p:spPr>
          <a:xfrm>
            <a:off x="3246120" y="4928760"/>
            <a:ext cx="1919880" cy="347040"/>
          </a:xfrm>
          <a:prstGeom prst="roundRect">
            <a:avLst>
              <a:gd name="adj" fmla="val 15789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2"/>
          <p:cNvSpPr/>
          <p:nvPr/>
        </p:nvSpPr>
        <p:spPr>
          <a:xfrm>
            <a:off x="3337560" y="5020200"/>
            <a:ext cx="17370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Python · Berechnung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63"/>
          <p:cNvSpPr/>
          <p:nvPr/>
        </p:nvSpPr>
        <p:spPr>
          <a:xfrm>
            <a:off x="5669280" y="4928760"/>
            <a:ext cx="1919880" cy="347040"/>
          </a:xfrm>
          <a:prstGeom prst="roundRect">
            <a:avLst>
              <a:gd name="adj" fmla="val 15789"/>
            </a:avLst>
          </a:prstGeom>
          <a:solidFill>
            <a:srgbClr val="0A1828"/>
          </a:solidFill>
          <a:ln w="10160">
            <a:solidFill>
              <a:srgbClr val="8B5CF6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64"/>
          <p:cNvSpPr/>
          <p:nvPr/>
        </p:nvSpPr>
        <p:spPr>
          <a:xfrm>
            <a:off x="5760720" y="5020200"/>
            <a:ext cx="17370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SQL / Datenbank · strukturierte Speicherung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65"/>
          <p:cNvSpPr/>
          <p:nvPr/>
        </p:nvSpPr>
        <p:spPr>
          <a:xfrm>
            <a:off x="8092440" y="4928760"/>
            <a:ext cx="1919880" cy="347040"/>
          </a:xfrm>
          <a:prstGeom prst="roundRect">
            <a:avLst>
              <a:gd name="adj" fmla="val 15789"/>
            </a:avLst>
          </a:prstGeom>
          <a:solidFill>
            <a:srgbClr val="0A1828"/>
          </a:solidFill>
          <a:ln w="10160">
            <a:solidFill>
              <a:srgbClr val="00D9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6"/>
          <p:cNvSpPr/>
          <p:nvPr/>
        </p:nvSpPr>
        <p:spPr>
          <a:xfrm>
            <a:off x="8183880" y="5020200"/>
            <a:ext cx="17370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Power BI · Auswertung &amp; Visualisierung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7"/>
          <p:cNvSpPr/>
          <p:nvPr/>
        </p:nvSpPr>
        <p:spPr>
          <a:xfrm>
            <a:off x="1005840" y="5906880"/>
            <a:ext cx="10149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 Signal wird also nicht nur markiert – es wird simuliert, mit Kosten belastet und danach verglichen.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06 · SIGNALE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Welche Signale habe ich untersucht?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Fünf einfache Prüfregeln – erst die Idee, danach der Fachbegriff.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621720" y="1874520"/>
            <a:ext cx="2130120" cy="3520080"/>
          </a:xfrm>
          <a:prstGeom prst="roundRect">
            <a:avLst>
              <a:gd name="adj" fmla="val 3433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804600" y="20757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6"/>
          <p:cNvSpPr/>
          <p:nvPr/>
        </p:nvSpPr>
        <p:spPr>
          <a:xfrm>
            <a:off x="850320" y="27612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7"/>
          <p:cNvSpPr/>
          <p:nvPr/>
        </p:nvSpPr>
        <p:spPr>
          <a:xfrm>
            <a:off x="850320" y="302652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8"/>
          <p:cNvSpPr/>
          <p:nvPr/>
        </p:nvSpPr>
        <p:spPr>
          <a:xfrm>
            <a:off x="850320" y="329184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9"/>
          <p:cNvSpPr/>
          <p:nvPr/>
        </p:nvSpPr>
        <p:spPr>
          <a:xfrm>
            <a:off x="850320" y="35568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0"/>
          <p:cNvSpPr/>
          <p:nvPr/>
        </p:nvSpPr>
        <p:spPr>
          <a:xfrm flipV="1">
            <a:off x="941760" y="3265200"/>
            <a:ext cx="494280" cy="185400"/>
          </a:xfrm>
          <a:prstGeom prst="line">
            <a:avLst/>
          </a:prstGeom>
          <a:ln w="1651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1"/>
          <p:cNvSpPr/>
          <p:nvPr/>
        </p:nvSpPr>
        <p:spPr>
          <a:xfrm flipV="1">
            <a:off x="1436040" y="3092760"/>
            <a:ext cx="451800" cy="172440"/>
          </a:xfrm>
          <a:prstGeom prst="line">
            <a:avLst/>
          </a:prstGeom>
          <a:ln w="1651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 flipV="1">
            <a:off x="1887840" y="2814480"/>
            <a:ext cx="468360" cy="278280"/>
          </a:xfrm>
          <a:prstGeom prst="line">
            <a:avLst/>
          </a:prstGeom>
          <a:ln w="1651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3"/>
          <p:cNvSpPr/>
          <p:nvPr/>
        </p:nvSpPr>
        <p:spPr>
          <a:xfrm>
            <a:off x="941760" y="2999880"/>
            <a:ext cx="494280" cy="92880"/>
          </a:xfrm>
          <a:prstGeom prst="line">
            <a:avLst/>
          </a:prstGeom>
          <a:ln w="165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1436040" y="3092760"/>
            <a:ext cx="451800" cy="26640"/>
          </a:xfrm>
          <a:prstGeom prst="line">
            <a:avLst/>
          </a:prstGeom>
          <a:ln w="165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8360" rIns="90000" bIns="-1836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5"/>
          <p:cNvSpPr/>
          <p:nvPr/>
        </p:nvSpPr>
        <p:spPr>
          <a:xfrm>
            <a:off x="1887840" y="3119400"/>
            <a:ext cx="468360" cy="198720"/>
          </a:xfrm>
          <a:prstGeom prst="line">
            <a:avLst/>
          </a:prstGeom>
          <a:ln w="165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1666800" y="2985480"/>
            <a:ext cx="241200" cy="24120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7"/>
          <p:cNvSpPr/>
          <p:nvPr/>
        </p:nvSpPr>
        <p:spPr>
          <a:xfrm>
            <a:off x="1732680" y="3051360"/>
            <a:ext cx="109440" cy="10944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8"/>
          <p:cNvSpPr/>
          <p:nvPr/>
        </p:nvSpPr>
        <p:spPr>
          <a:xfrm>
            <a:off x="804600" y="4023360"/>
            <a:ext cx="176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Zwei Durchschnitte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kreuzen sich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9"/>
          <p:cNvSpPr/>
          <p:nvPr/>
        </p:nvSpPr>
        <p:spPr>
          <a:xfrm>
            <a:off x="978480" y="4754880"/>
            <a:ext cx="1416960" cy="310680"/>
          </a:xfrm>
          <a:prstGeom prst="roundRect">
            <a:avLst>
              <a:gd name="adj" fmla="val 14706"/>
            </a:avLst>
          </a:prstGeom>
          <a:solidFill>
            <a:srgbClr val="0A1828"/>
          </a:solidFill>
          <a:ln w="10160">
            <a:solidFill>
              <a:srgbClr val="00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0"/>
          <p:cNvSpPr/>
          <p:nvPr/>
        </p:nvSpPr>
        <p:spPr>
          <a:xfrm>
            <a:off x="1033200" y="4846320"/>
            <a:ext cx="13071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SMA-Crossover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1"/>
          <p:cNvSpPr/>
          <p:nvPr/>
        </p:nvSpPr>
        <p:spPr>
          <a:xfrm>
            <a:off x="2898720" y="1874520"/>
            <a:ext cx="2130120" cy="3520080"/>
          </a:xfrm>
          <a:prstGeom prst="roundRect">
            <a:avLst>
              <a:gd name="adj" fmla="val 3433"/>
            </a:avLst>
          </a:prstGeom>
          <a:solidFill>
            <a:srgbClr val="071321"/>
          </a:solidFill>
          <a:ln w="1270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2"/>
          <p:cNvSpPr/>
          <p:nvPr/>
        </p:nvSpPr>
        <p:spPr>
          <a:xfrm>
            <a:off x="3081600" y="20757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3"/>
          <p:cNvSpPr/>
          <p:nvPr/>
        </p:nvSpPr>
        <p:spPr>
          <a:xfrm>
            <a:off x="3126960" y="2761200"/>
            <a:ext cx="16736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4"/>
          <p:cNvSpPr/>
          <p:nvPr/>
        </p:nvSpPr>
        <p:spPr>
          <a:xfrm>
            <a:off x="3126960" y="3026520"/>
            <a:ext cx="16736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5"/>
          <p:cNvSpPr/>
          <p:nvPr/>
        </p:nvSpPr>
        <p:spPr>
          <a:xfrm>
            <a:off x="3126960" y="3291840"/>
            <a:ext cx="16736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6"/>
          <p:cNvSpPr/>
          <p:nvPr/>
        </p:nvSpPr>
        <p:spPr>
          <a:xfrm>
            <a:off x="3126960" y="3556800"/>
            <a:ext cx="167364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7"/>
          <p:cNvSpPr/>
          <p:nvPr/>
        </p:nvSpPr>
        <p:spPr>
          <a:xfrm flipV="1">
            <a:off x="3218400" y="3358080"/>
            <a:ext cx="494280" cy="13248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8"/>
          <p:cNvSpPr/>
          <p:nvPr/>
        </p:nvSpPr>
        <p:spPr>
          <a:xfrm flipV="1">
            <a:off x="3712680" y="3026520"/>
            <a:ext cx="334800" cy="33156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9"/>
          <p:cNvSpPr/>
          <p:nvPr/>
        </p:nvSpPr>
        <p:spPr>
          <a:xfrm flipV="1">
            <a:off x="4047480" y="2734920"/>
            <a:ext cx="585720" cy="29160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0"/>
          <p:cNvSpPr/>
          <p:nvPr/>
        </p:nvSpPr>
        <p:spPr>
          <a:xfrm flipV="1">
            <a:off x="4047480" y="2734920"/>
            <a:ext cx="585720" cy="291600"/>
          </a:xfrm>
          <a:prstGeom prst="line">
            <a:avLst/>
          </a:prstGeom>
          <a:ln w="15240">
            <a:solidFill>
              <a:srgbClr val="00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1"/>
          <p:cNvSpPr/>
          <p:nvPr/>
        </p:nvSpPr>
        <p:spPr>
          <a:xfrm>
            <a:off x="3081600" y="4023360"/>
            <a:ext cx="176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Der Kurs hat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zuletzt zugelegt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2"/>
          <p:cNvSpPr/>
          <p:nvPr/>
        </p:nvSpPr>
        <p:spPr>
          <a:xfrm>
            <a:off x="3255120" y="4754880"/>
            <a:ext cx="1416960" cy="310680"/>
          </a:xfrm>
          <a:prstGeom prst="roundRect">
            <a:avLst>
              <a:gd name="adj" fmla="val 14706"/>
            </a:avLst>
          </a:prstGeom>
          <a:solidFill>
            <a:srgbClr val="0A1828"/>
          </a:solidFill>
          <a:ln w="10160">
            <a:solidFill>
              <a:srgbClr val="3C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3"/>
          <p:cNvSpPr/>
          <p:nvPr/>
        </p:nvSpPr>
        <p:spPr>
          <a:xfrm>
            <a:off x="3310200" y="4846320"/>
            <a:ext cx="13071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Momentum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4"/>
          <p:cNvSpPr/>
          <p:nvPr/>
        </p:nvSpPr>
        <p:spPr>
          <a:xfrm>
            <a:off x="5175360" y="1874520"/>
            <a:ext cx="2130120" cy="3520080"/>
          </a:xfrm>
          <a:prstGeom prst="roundRect">
            <a:avLst>
              <a:gd name="adj" fmla="val 3433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5"/>
          <p:cNvSpPr/>
          <p:nvPr/>
        </p:nvSpPr>
        <p:spPr>
          <a:xfrm>
            <a:off x="5358240" y="20757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6"/>
          <p:cNvSpPr/>
          <p:nvPr/>
        </p:nvSpPr>
        <p:spPr>
          <a:xfrm>
            <a:off x="5403960" y="27612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7"/>
          <p:cNvSpPr/>
          <p:nvPr/>
        </p:nvSpPr>
        <p:spPr>
          <a:xfrm>
            <a:off x="5403960" y="302652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48"/>
          <p:cNvSpPr/>
          <p:nvPr/>
        </p:nvSpPr>
        <p:spPr>
          <a:xfrm>
            <a:off x="5403960" y="329184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49"/>
          <p:cNvSpPr/>
          <p:nvPr/>
        </p:nvSpPr>
        <p:spPr>
          <a:xfrm>
            <a:off x="5403960" y="35568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0"/>
          <p:cNvSpPr/>
          <p:nvPr/>
        </p:nvSpPr>
        <p:spPr>
          <a:xfrm>
            <a:off x="5495400" y="3106080"/>
            <a:ext cx="1414440" cy="360"/>
          </a:xfrm>
          <a:prstGeom prst="line">
            <a:avLst/>
          </a:prstGeom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1"/>
          <p:cNvSpPr/>
          <p:nvPr/>
        </p:nvSpPr>
        <p:spPr>
          <a:xfrm flipV="1">
            <a:off x="5495400" y="3318120"/>
            <a:ext cx="494280" cy="15912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52"/>
          <p:cNvSpPr/>
          <p:nvPr/>
        </p:nvSpPr>
        <p:spPr>
          <a:xfrm flipV="1">
            <a:off x="5989680" y="3185640"/>
            <a:ext cx="351360" cy="13248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3"/>
          <p:cNvSpPr/>
          <p:nvPr/>
        </p:nvSpPr>
        <p:spPr>
          <a:xfrm flipV="1">
            <a:off x="6341040" y="2960280"/>
            <a:ext cx="334800" cy="22536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4"/>
          <p:cNvSpPr/>
          <p:nvPr/>
        </p:nvSpPr>
        <p:spPr>
          <a:xfrm flipV="1">
            <a:off x="6675840" y="2814480"/>
            <a:ext cx="234000" cy="145800"/>
          </a:xfrm>
          <a:prstGeom prst="line">
            <a:avLst/>
          </a:prstGeom>
          <a:ln w="177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5"/>
          <p:cNvSpPr/>
          <p:nvPr/>
        </p:nvSpPr>
        <p:spPr>
          <a:xfrm>
            <a:off x="6555240" y="2839680"/>
            <a:ext cx="241200" cy="241200"/>
          </a:xfrm>
          <a:prstGeom prst="ellipse">
            <a:avLst/>
          </a:prstGeom>
          <a:solidFill>
            <a:srgbClr val="3CE6A8">
              <a:alpha val="18000"/>
            </a:srgbClr>
          </a:solidFill>
          <a:ln w="12700">
            <a:solidFill>
              <a:srgbClr val="3CE6A8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56"/>
          <p:cNvSpPr/>
          <p:nvPr/>
        </p:nvSpPr>
        <p:spPr>
          <a:xfrm>
            <a:off x="6621120" y="2905560"/>
            <a:ext cx="109440" cy="109440"/>
          </a:xfrm>
          <a:prstGeom prst="ellipse">
            <a:avLst/>
          </a:prstGeom>
          <a:solidFill>
            <a:srgbClr val="3CE6A8"/>
          </a:solidFill>
          <a:ln w="1270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7"/>
          <p:cNvSpPr/>
          <p:nvPr/>
        </p:nvSpPr>
        <p:spPr>
          <a:xfrm>
            <a:off x="5358240" y="4023360"/>
            <a:ext cx="176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Der Kurs steigt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über ein altes Hoch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8"/>
          <p:cNvSpPr/>
          <p:nvPr/>
        </p:nvSpPr>
        <p:spPr>
          <a:xfrm>
            <a:off x="5532120" y="4754880"/>
            <a:ext cx="1416960" cy="310680"/>
          </a:xfrm>
          <a:prstGeom prst="roundRect">
            <a:avLst>
              <a:gd name="adj" fmla="val 14706"/>
            </a:avLst>
          </a:prstGeom>
          <a:solidFill>
            <a:srgbClr val="0A1828"/>
          </a:solidFill>
          <a:ln w="10160">
            <a:solidFill>
              <a:srgbClr val="00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9"/>
          <p:cNvSpPr/>
          <p:nvPr/>
        </p:nvSpPr>
        <p:spPr>
          <a:xfrm>
            <a:off x="5586840" y="4846320"/>
            <a:ext cx="13071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Breakout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0"/>
          <p:cNvSpPr/>
          <p:nvPr/>
        </p:nvSpPr>
        <p:spPr>
          <a:xfrm>
            <a:off x="7452360" y="1874520"/>
            <a:ext cx="2130120" cy="3520080"/>
          </a:xfrm>
          <a:prstGeom prst="roundRect">
            <a:avLst>
              <a:gd name="adj" fmla="val 3433"/>
            </a:avLst>
          </a:prstGeom>
          <a:solidFill>
            <a:srgbClr val="071321"/>
          </a:solidFill>
          <a:ln w="1270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61"/>
          <p:cNvSpPr/>
          <p:nvPr/>
        </p:nvSpPr>
        <p:spPr>
          <a:xfrm>
            <a:off x="7635240" y="20757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2"/>
          <p:cNvSpPr/>
          <p:nvPr/>
        </p:nvSpPr>
        <p:spPr>
          <a:xfrm>
            <a:off x="7680960" y="27612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63"/>
          <p:cNvSpPr/>
          <p:nvPr/>
        </p:nvSpPr>
        <p:spPr>
          <a:xfrm>
            <a:off x="7680960" y="302652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64"/>
          <p:cNvSpPr/>
          <p:nvPr/>
        </p:nvSpPr>
        <p:spPr>
          <a:xfrm>
            <a:off x="7680960" y="329184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65"/>
          <p:cNvSpPr/>
          <p:nvPr/>
        </p:nvSpPr>
        <p:spPr>
          <a:xfrm>
            <a:off x="7680960" y="35568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66"/>
          <p:cNvSpPr/>
          <p:nvPr/>
        </p:nvSpPr>
        <p:spPr>
          <a:xfrm>
            <a:off x="7772400" y="2960280"/>
            <a:ext cx="493920" cy="198720"/>
          </a:xfrm>
          <a:prstGeom prst="line">
            <a:avLst/>
          </a:prstGeom>
          <a:ln w="17145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7"/>
          <p:cNvSpPr/>
          <p:nvPr/>
        </p:nvSpPr>
        <p:spPr>
          <a:xfrm>
            <a:off x="8266320" y="3159000"/>
            <a:ext cx="351360" cy="291600"/>
          </a:xfrm>
          <a:prstGeom prst="line">
            <a:avLst/>
          </a:prstGeom>
          <a:ln w="17145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68"/>
          <p:cNvSpPr/>
          <p:nvPr/>
        </p:nvSpPr>
        <p:spPr>
          <a:xfrm flipV="1">
            <a:off x="8617680" y="3371040"/>
            <a:ext cx="569160" cy="79560"/>
          </a:xfrm>
          <a:prstGeom prst="line">
            <a:avLst/>
          </a:prstGeom>
          <a:ln w="17145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4560" rIns="90000" bIns="3456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69"/>
          <p:cNvSpPr/>
          <p:nvPr/>
        </p:nvSpPr>
        <p:spPr>
          <a:xfrm>
            <a:off x="7772400" y="3530160"/>
            <a:ext cx="1414440" cy="360"/>
          </a:xfrm>
          <a:prstGeom prst="line">
            <a:avLst/>
          </a:prstGeom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0"/>
          <p:cNvSpPr/>
          <p:nvPr/>
        </p:nvSpPr>
        <p:spPr>
          <a:xfrm>
            <a:off x="9053280" y="3450960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30</a:t>
            </a:r>
            <a:endParaRPr lang="en-US" sz="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71"/>
          <p:cNvSpPr/>
          <p:nvPr/>
        </p:nvSpPr>
        <p:spPr>
          <a:xfrm>
            <a:off x="7635240" y="4023360"/>
            <a:ext cx="176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Der Markt ist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kurzfristig stark gefallen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72"/>
          <p:cNvSpPr/>
          <p:nvPr/>
        </p:nvSpPr>
        <p:spPr>
          <a:xfrm>
            <a:off x="7809120" y="4754880"/>
            <a:ext cx="1416960" cy="310680"/>
          </a:xfrm>
          <a:prstGeom prst="roundRect">
            <a:avLst>
              <a:gd name="adj" fmla="val 14706"/>
            </a:avLst>
          </a:prstGeom>
          <a:solidFill>
            <a:srgbClr val="0A1828"/>
          </a:solidFill>
          <a:ln w="10160">
            <a:solidFill>
              <a:srgbClr val="FF5D7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73"/>
          <p:cNvSpPr/>
          <p:nvPr/>
        </p:nvSpPr>
        <p:spPr>
          <a:xfrm>
            <a:off x="7863840" y="4846320"/>
            <a:ext cx="13071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RSI Mean Reversion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74"/>
          <p:cNvSpPr/>
          <p:nvPr/>
        </p:nvSpPr>
        <p:spPr>
          <a:xfrm>
            <a:off x="9729360" y="1874520"/>
            <a:ext cx="2130120" cy="3520080"/>
          </a:xfrm>
          <a:prstGeom prst="roundRect">
            <a:avLst>
              <a:gd name="adj" fmla="val 3433"/>
            </a:avLst>
          </a:prstGeom>
          <a:solidFill>
            <a:srgbClr val="071321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75"/>
          <p:cNvSpPr/>
          <p:nvPr/>
        </p:nvSpPr>
        <p:spPr>
          <a:xfrm>
            <a:off x="9912240" y="207576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76"/>
          <p:cNvSpPr/>
          <p:nvPr/>
        </p:nvSpPr>
        <p:spPr>
          <a:xfrm>
            <a:off x="9957600" y="27612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77"/>
          <p:cNvSpPr/>
          <p:nvPr/>
        </p:nvSpPr>
        <p:spPr>
          <a:xfrm>
            <a:off x="9957600" y="302652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78"/>
          <p:cNvSpPr/>
          <p:nvPr/>
        </p:nvSpPr>
        <p:spPr>
          <a:xfrm>
            <a:off x="9957600" y="329184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79"/>
          <p:cNvSpPr/>
          <p:nvPr/>
        </p:nvSpPr>
        <p:spPr>
          <a:xfrm>
            <a:off x="9957600" y="3556800"/>
            <a:ext cx="167328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80"/>
          <p:cNvSpPr/>
          <p:nvPr/>
        </p:nvSpPr>
        <p:spPr>
          <a:xfrm>
            <a:off x="10049040" y="2999880"/>
            <a:ext cx="494280" cy="26640"/>
          </a:xfrm>
          <a:prstGeom prst="line">
            <a:avLst/>
          </a:prstGeom>
          <a:ln w="1524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8360" rIns="90000" bIns="-1836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81"/>
          <p:cNvSpPr/>
          <p:nvPr/>
        </p:nvSpPr>
        <p:spPr>
          <a:xfrm>
            <a:off x="10543320" y="3026520"/>
            <a:ext cx="384840" cy="26640"/>
          </a:xfrm>
          <a:prstGeom prst="line">
            <a:avLst/>
          </a:prstGeom>
          <a:ln w="1524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8360" rIns="90000" bIns="-1836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2"/>
          <p:cNvSpPr/>
          <p:nvPr/>
        </p:nvSpPr>
        <p:spPr>
          <a:xfrm flipV="1">
            <a:off x="10928160" y="3013200"/>
            <a:ext cx="535320" cy="39960"/>
          </a:xfrm>
          <a:prstGeom prst="line">
            <a:avLst/>
          </a:prstGeom>
          <a:ln w="1524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5040" rIns="90000" bIns="-50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83"/>
          <p:cNvSpPr/>
          <p:nvPr/>
        </p:nvSpPr>
        <p:spPr>
          <a:xfrm>
            <a:off x="10049040" y="3225240"/>
            <a:ext cx="494280" cy="119520"/>
          </a:xfrm>
          <a:prstGeom prst="line">
            <a:avLst/>
          </a:prstGeom>
          <a:ln w="17145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84"/>
          <p:cNvSpPr/>
          <p:nvPr/>
        </p:nvSpPr>
        <p:spPr>
          <a:xfrm>
            <a:off x="10543320" y="3344760"/>
            <a:ext cx="384840" cy="185400"/>
          </a:xfrm>
          <a:prstGeom prst="line">
            <a:avLst/>
          </a:prstGeom>
          <a:ln w="17145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85"/>
          <p:cNvSpPr/>
          <p:nvPr/>
        </p:nvSpPr>
        <p:spPr>
          <a:xfrm flipV="1">
            <a:off x="10928160" y="3424320"/>
            <a:ext cx="535320" cy="105840"/>
          </a:xfrm>
          <a:prstGeom prst="line">
            <a:avLst/>
          </a:prstGeom>
          <a:ln w="17145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86"/>
          <p:cNvSpPr/>
          <p:nvPr/>
        </p:nvSpPr>
        <p:spPr>
          <a:xfrm>
            <a:off x="10995120" y="3079440"/>
            <a:ext cx="360" cy="450720"/>
          </a:xfrm>
          <a:prstGeom prst="line">
            <a:avLst/>
          </a:prstGeom>
          <a:ln w="12700">
            <a:solidFill>
              <a:srgbClr val="3CE6A8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87"/>
          <p:cNvSpPr/>
          <p:nvPr/>
        </p:nvSpPr>
        <p:spPr>
          <a:xfrm>
            <a:off x="9912240" y="4023360"/>
            <a:ext cx="176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Der Kurs liegt deutlich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unter seinem Durchschnitt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88"/>
          <p:cNvSpPr/>
          <p:nvPr/>
        </p:nvSpPr>
        <p:spPr>
          <a:xfrm>
            <a:off x="10085760" y="4754880"/>
            <a:ext cx="1416960" cy="310680"/>
          </a:xfrm>
          <a:prstGeom prst="roundRect">
            <a:avLst>
              <a:gd name="adj" fmla="val 14706"/>
            </a:avLst>
          </a:prstGeom>
          <a:solidFill>
            <a:srgbClr val="0A1828"/>
          </a:solidFill>
          <a:ln w="10160">
            <a:solidFill>
              <a:srgbClr val="8B5CF6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89"/>
          <p:cNvSpPr/>
          <p:nvPr/>
        </p:nvSpPr>
        <p:spPr>
          <a:xfrm>
            <a:off x="10140840" y="4846320"/>
            <a:ext cx="13071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SMA-Abstand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90"/>
          <p:cNvSpPr/>
          <p:nvPr/>
        </p:nvSpPr>
        <p:spPr>
          <a:xfrm>
            <a:off x="914400" y="5797440"/>
            <a:ext cx="10378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Diese Signale sind Prüfregeln – keine Trading-Empfehlungen.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07 · FAIRER TEST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Wie habe ich fair getestet?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Die Regeln sollten nicht im Nachhinein passend gemacht werden.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4"/>
          <p:cNvSpPr/>
          <p:nvPr/>
        </p:nvSpPr>
        <p:spPr>
          <a:xfrm>
            <a:off x="3063240" y="2697480"/>
            <a:ext cx="822960" cy="360"/>
          </a:xfrm>
          <a:prstGeom prst="line">
            <a:avLst/>
          </a:prstGeom>
          <a:ln w="1778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5"/>
          <p:cNvSpPr/>
          <p:nvPr/>
        </p:nvSpPr>
        <p:spPr>
          <a:xfrm>
            <a:off x="6382440" y="2697480"/>
            <a:ext cx="822960" cy="360"/>
          </a:xfrm>
          <a:prstGeom prst="line">
            <a:avLst/>
          </a:prstGeom>
          <a:ln w="1778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6"/>
          <p:cNvSpPr/>
          <p:nvPr/>
        </p:nvSpPr>
        <p:spPr>
          <a:xfrm>
            <a:off x="868680" y="201168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0A1828"/>
          </a:solidFill>
          <a:ln w="1397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7"/>
          <p:cNvSpPr/>
          <p:nvPr/>
        </p:nvSpPr>
        <p:spPr>
          <a:xfrm>
            <a:off x="1051560" y="22129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2021–2022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8"/>
          <p:cNvSpPr/>
          <p:nvPr/>
        </p:nvSpPr>
        <p:spPr>
          <a:xfrm>
            <a:off x="1051560" y="24962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ENTWICKELN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9"/>
          <p:cNvSpPr/>
          <p:nvPr/>
        </p:nvSpPr>
        <p:spPr>
          <a:xfrm>
            <a:off x="1051560" y="284364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Regeln festlegen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und zuerst prüfen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0"/>
          <p:cNvSpPr/>
          <p:nvPr/>
        </p:nvSpPr>
        <p:spPr>
          <a:xfrm>
            <a:off x="4187880" y="201168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0A1828"/>
          </a:solidFill>
          <a:ln w="1397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4370760" y="22129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2023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2"/>
          <p:cNvSpPr/>
          <p:nvPr/>
        </p:nvSpPr>
        <p:spPr>
          <a:xfrm>
            <a:off x="4370760" y="24962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VALIDIEREN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3"/>
          <p:cNvSpPr/>
          <p:nvPr/>
        </p:nvSpPr>
        <p:spPr>
          <a:xfrm>
            <a:off x="4370760" y="284364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Neuer Zeitraum,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neue Prüfung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4"/>
          <p:cNvSpPr/>
          <p:nvPr/>
        </p:nvSpPr>
        <p:spPr>
          <a:xfrm>
            <a:off x="7498080" y="201168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0A1828"/>
          </a:solidFill>
          <a:ln w="1397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5"/>
          <p:cNvSpPr/>
          <p:nvPr/>
        </p:nvSpPr>
        <p:spPr>
          <a:xfrm>
            <a:off x="7680960" y="22129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2024–2025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6"/>
          <p:cNvSpPr/>
          <p:nvPr/>
        </p:nvSpPr>
        <p:spPr>
          <a:xfrm>
            <a:off x="7680960" y="24962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🔒  FINAL TEST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7"/>
          <p:cNvSpPr/>
          <p:nvPr/>
        </p:nvSpPr>
        <p:spPr>
          <a:xfrm>
            <a:off x="7680960" y="284364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Methode unverändert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genau einmal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8"/>
          <p:cNvSpPr/>
          <p:nvPr/>
        </p:nvSpPr>
        <p:spPr>
          <a:xfrm>
            <a:off x="868680" y="4160520"/>
            <a:ext cx="242280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9"/>
          <p:cNvSpPr/>
          <p:nvPr/>
        </p:nvSpPr>
        <p:spPr>
          <a:xfrm>
            <a:off x="1069920" y="4471560"/>
            <a:ext cx="25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0"/>
          <p:cNvSpPr/>
          <p:nvPr/>
        </p:nvSpPr>
        <p:spPr>
          <a:xfrm>
            <a:off x="1463040" y="44074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Keine Zukunft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1"/>
          <p:cNvSpPr/>
          <p:nvPr/>
        </p:nvSpPr>
        <p:spPr>
          <a:xfrm>
            <a:off x="1463040" y="46908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Nur bekannte Informationen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2"/>
          <p:cNvSpPr/>
          <p:nvPr/>
        </p:nvSpPr>
        <p:spPr>
          <a:xfrm>
            <a:off x="3566160" y="4160520"/>
            <a:ext cx="242280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3"/>
          <p:cNvSpPr/>
          <p:nvPr/>
        </p:nvSpPr>
        <p:spPr>
          <a:xfrm>
            <a:off x="3767400" y="4471560"/>
            <a:ext cx="32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−%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4"/>
          <p:cNvSpPr/>
          <p:nvPr/>
        </p:nvSpPr>
        <p:spPr>
          <a:xfrm>
            <a:off x="4160520" y="44074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Reale Kosten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5"/>
          <p:cNvSpPr/>
          <p:nvPr/>
        </p:nvSpPr>
        <p:spPr>
          <a:xfrm>
            <a:off x="4160520" y="46908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20 / 30 / 50 bp geprüft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6"/>
          <p:cNvSpPr/>
          <p:nvPr/>
        </p:nvSpPr>
        <p:spPr>
          <a:xfrm>
            <a:off x="6263640" y="4160520"/>
            <a:ext cx="242280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7"/>
          <p:cNvSpPr/>
          <p:nvPr/>
        </p:nvSpPr>
        <p:spPr>
          <a:xfrm>
            <a:off x="6464880" y="4471560"/>
            <a:ext cx="25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CE6A8"/>
                </a:solidFill>
                <a:effectLst/>
                <a:uFillTx/>
                <a:latin typeface="Aptos Display"/>
                <a:ea typeface="Aptos Display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8"/>
          <p:cNvSpPr/>
          <p:nvPr/>
        </p:nvSpPr>
        <p:spPr>
          <a:xfrm>
            <a:off x="6858000" y="44074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Datenqualität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9"/>
          <p:cNvSpPr/>
          <p:nvPr/>
        </p:nvSpPr>
        <p:spPr>
          <a:xfrm>
            <a:off x="6858000" y="46908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Unvollständige Monate ausgeschlossen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0"/>
          <p:cNvSpPr/>
          <p:nvPr/>
        </p:nvSpPr>
        <p:spPr>
          <a:xfrm>
            <a:off x="8961120" y="4160520"/>
            <a:ext cx="242280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41"/>
          <p:cNvSpPr/>
          <p:nvPr/>
        </p:nvSpPr>
        <p:spPr>
          <a:xfrm>
            <a:off x="9162000" y="4599360"/>
            <a:ext cx="411480" cy="360"/>
          </a:xfrm>
          <a:prstGeom prst="line">
            <a:avLst/>
          </a:prstGeom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2"/>
          <p:cNvSpPr/>
          <p:nvPr/>
        </p:nvSpPr>
        <p:spPr>
          <a:xfrm>
            <a:off x="9226440" y="4526280"/>
            <a:ext cx="82080" cy="82080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43"/>
          <p:cNvSpPr/>
          <p:nvPr/>
        </p:nvSpPr>
        <p:spPr>
          <a:xfrm>
            <a:off x="9427320" y="4526280"/>
            <a:ext cx="82080" cy="82080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4"/>
          <p:cNvSpPr/>
          <p:nvPr/>
        </p:nvSpPr>
        <p:spPr>
          <a:xfrm>
            <a:off x="9555480" y="44074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Baselines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5"/>
          <p:cNvSpPr/>
          <p:nvPr/>
        </p:nvSpPr>
        <p:spPr>
          <a:xfrm>
            <a:off x="9555480" y="46908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Mit einfachen Referenzen vergleichen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46"/>
          <p:cNvSpPr/>
          <p:nvPr/>
        </p:nvSpPr>
        <p:spPr>
          <a:xfrm>
            <a:off x="914400" y="5870520"/>
            <a:ext cx="10332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Ziel: Das Ergebnis soll nicht nur gut aussehen, sondern fair geprüft sein.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08 · ERGEBNIS 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Was machen die Handelskosten?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Brutto heißt vor Kosten. Netto heißt nach Kosten.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4"/>
          <p:cNvSpPr/>
          <p:nvPr/>
        </p:nvSpPr>
        <p:spPr>
          <a:xfrm>
            <a:off x="822960" y="169164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Hauptszenario: 30 Basispunkte Kosten pro vollständigem Trade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5"/>
          <p:cNvSpPr/>
          <p:nvPr/>
        </p:nvSpPr>
        <p:spPr>
          <a:xfrm>
            <a:off x="868680" y="2423160"/>
            <a:ext cx="10469520" cy="959760"/>
          </a:xfrm>
          <a:prstGeom prst="roundRect">
            <a:avLst>
              <a:gd name="adj" fmla="val 7619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6"/>
          <p:cNvSpPr/>
          <p:nvPr/>
        </p:nvSpPr>
        <p:spPr>
          <a:xfrm>
            <a:off x="1078920" y="273420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1h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7"/>
          <p:cNvSpPr/>
          <p:nvPr/>
        </p:nvSpPr>
        <p:spPr>
          <a:xfrm>
            <a:off x="1965960" y="2606040"/>
            <a:ext cx="1554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VOR KOSTEN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8"/>
          <p:cNvSpPr/>
          <p:nvPr/>
        </p:nvSpPr>
        <p:spPr>
          <a:xfrm>
            <a:off x="1874520" y="281628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+0,014 %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9"/>
          <p:cNvSpPr/>
          <p:nvPr/>
        </p:nvSpPr>
        <p:spPr>
          <a:xfrm>
            <a:off x="3977640" y="2898360"/>
            <a:ext cx="125244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0"/>
          <p:cNvSpPr/>
          <p:nvPr/>
        </p:nvSpPr>
        <p:spPr>
          <a:xfrm>
            <a:off x="5294520" y="2642760"/>
            <a:ext cx="529920" cy="529920"/>
          </a:xfrm>
          <a:prstGeom prst="ellipse">
            <a:avLst/>
          </a:prstGeom>
          <a:solidFill>
            <a:srgbClr val="140F2C"/>
          </a:solidFill>
          <a:ln w="1270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1"/>
          <p:cNvSpPr/>
          <p:nvPr/>
        </p:nvSpPr>
        <p:spPr>
          <a:xfrm>
            <a:off x="5349240" y="2816280"/>
            <a:ext cx="420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Kosten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2"/>
          <p:cNvSpPr/>
          <p:nvPr/>
        </p:nvSpPr>
        <p:spPr>
          <a:xfrm>
            <a:off x="5897880" y="2898360"/>
            <a:ext cx="125244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3"/>
          <p:cNvSpPr/>
          <p:nvPr/>
        </p:nvSpPr>
        <p:spPr>
          <a:xfrm>
            <a:off x="7589520" y="26060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NACH KOSTEN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4"/>
          <p:cNvSpPr/>
          <p:nvPr/>
        </p:nvSpPr>
        <p:spPr>
          <a:xfrm>
            <a:off x="7543800" y="28162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−0,285 %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5"/>
          <p:cNvSpPr/>
          <p:nvPr/>
        </p:nvSpPr>
        <p:spPr>
          <a:xfrm>
            <a:off x="9711000" y="280728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positiver Effekt zu klein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6"/>
          <p:cNvSpPr/>
          <p:nvPr/>
        </p:nvSpPr>
        <p:spPr>
          <a:xfrm>
            <a:off x="868680" y="3840480"/>
            <a:ext cx="10469520" cy="959760"/>
          </a:xfrm>
          <a:prstGeom prst="roundRect">
            <a:avLst>
              <a:gd name="adj" fmla="val 7619"/>
            </a:avLst>
          </a:prstGeom>
          <a:solidFill>
            <a:srgbClr val="071321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7"/>
          <p:cNvSpPr/>
          <p:nvPr/>
        </p:nvSpPr>
        <p:spPr>
          <a:xfrm>
            <a:off x="1078920" y="4151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4h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8"/>
          <p:cNvSpPr/>
          <p:nvPr/>
        </p:nvSpPr>
        <p:spPr>
          <a:xfrm>
            <a:off x="1965960" y="4023360"/>
            <a:ext cx="1554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VOR KOSTEN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9"/>
          <p:cNvSpPr/>
          <p:nvPr/>
        </p:nvSpPr>
        <p:spPr>
          <a:xfrm>
            <a:off x="1874520" y="42336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+0,033 %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0"/>
          <p:cNvSpPr/>
          <p:nvPr/>
        </p:nvSpPr>
        <p:spPr>
          <a:xfrm>
            <a:off x="3977640" y="4315680"/>
            <a:ext cx="125244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1"/>
          <p:cNvSpPr/>
          <p:nvPr/>
        </p:nvSpPr>
        <p:spPr>
          <a:xfrm>
            <a:off x="5294520" y="4060080"/>
            <a:ext cx="529920" cy="529920"/>
          </a:xfrm>
          <a:prstGeom prst="ellipse">
            <a:avLst/>
          </a:prstGeom>
          <a:solidFill>
            <a:srgbClr val="140F2C"/>
          </a:solidFill>
          <a:ln w="1270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2"/>
          <p:cNvSpPr/>
          <p:nvPr/>
        </p:nvSpPr>
        <p:spPr>
          <a:xfrm>
            <a:off x="5349240" y="4233600"/>
            <a:ext cx="420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Kosten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3"/>
          <p:cNvSpPr/>
          <p:nvPr/>
        </p:nvSpPr>
        <p:spPr>
          <a:xfrm>
            <a:off x="5897880" y="4315680"/>
            <a:ext cx="125244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34"/>
          <p:cNvSpPr/>
          <p:nvPr/>
        </p:nvSpPr>
        <p:spPr>
          <a:xfrm>
            <a:off x="7589520" y="402336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NACH KOSTEN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5"/>
          <p:cNvSpPr/>
          <p:nvPr/>
        </p:nvSpPr>
        <p:spPr>
          <a:xfrm>
            <a:off x="7543800" y="4233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−0,267 %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6"/>
          <p:cNvSpPr/>
          <p:nvPr/>
        </p:nvSpPr>
        <p:spPr>
          <a:xfrm>
            <a:off x="9711000" y="422460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positiver Effekt zu klein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7"/>
          <p:cNvSpPr/>
          <p:nvPr/>
        </p:nvSpPr>
        <p:spPr>
          <a:xfrm>
            <a:off x="1188720" y="5468040"/>
            <a:ext cx="9829440" cy="51156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1016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8"/>
          <p:cNvSpPr/>
          <p:nvPr/>
        </p:nvSpPr>
        <p:spPr>
          <a:xfrm>
            <a:off x="1371600" y="5632560"/>
            <a:ext cx="9463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Auch bei nur 20 bp Kosten blieb das durchschnittliche Nettoergebnis negativ.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09 · ERGEBNIS 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Waren die Ergebnisse stabil?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Was einmal positiv war, funktionierte später nicht automatisch wieder.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4"/>
          <p:cNvSpPr/>
          <p:nvPr/>
        </p:nvSpPr>
        <p:spPr>
          <a:xfrm>
            <a:off x="841320" y="1874520"/>
            <a:ext cx="3154320" cy="2148480"/>
          </a:xfrm>
          <a:prstGeom prst="roundRect">
            <a:avLst>
              <a:gd name="adj" fmla="val 3404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5"/>
          <p:cNvSpPr/>
          <p:nvPr/>
        </p:nvSpPr>
        <p:spPr>
          <a:xfrm>
            <a:off x="1051560" y="20847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2021–2022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6"/>
          <p:cNvSpPr/>
          <p:nvPr/>
        </p:nvSpPr>
        <p:spPr>
          <a:xfrm>
            <a:off x="1051560" y="23590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Development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7"/>
          <p:cNvSpPr/>
          <p:nvPr/>
        </p:nvSpPr>
        <p:spPr>
          <a:xfrm>
            <a:off x="1051560" y="26791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0 / 30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8"/>
          <p:cNvSpPr/>
          <p:nvPr/>
        </p:nvSpPr>
        <p:spPr>
          <a:xfrm>
            <a:off x="1051560" y="3090600"/>
            <a:ext cx="2742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netto positiv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9"/>
          <p:cNvSpPr/>
          <p:nvPr/>
        </p:nvSpPr>
        <p:spPr>
          <a:xfrm>
            <a:off x="181044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0"/>
          <p:cNvSpPr/>
          <p:nvPr/>
        </p:nvSpPr>
        <p:spPr>
          <a:xfrm>
            <a:off x="194760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1"/>
          <p:cNvSpPr/>
          <p:nvPr/>
        </p:nvSpPr>
        <p:spPr>
          <a:xfrm>
            <a:off x="208476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2"/>
          <p:cNvSpPr/>
          <p:nvPr/>
        </p:nvSpPr>
        <p:spPr>
          <a:xfrm>
            <a:off x="222192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3"/>
          <p:cNvSpPr/>
          <p:nvPr/>
        </p:nvSpPr>
        <p:spPr>
          <a:xfrm>
            <a:off x="235908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4"/>
          <p:cNvSpPr/>
          <p:nvPr/>
        </p:nvSpPr>
        <p:spPr>
          <a:xfrm>
            <a:off x="249624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5"/>
          <p:cNvSpPr/>
          <p:nvPr/>
        </p:nvSpPr>
        <p:spPr>
          <a:xfrm>
            <a:off x="263340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6"/>
          <p:cNvSpPr/>
          <p:nvPr/>
        </p:nvSpPr>
        <p:spPr>
          <a:xfrm>
            <a:off x="277056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7"/>
          <p:cNvSpPr/>
          <p:nvPr/>
        </p:nvSpPr>
        <p:spPr>
          <a:xfrm>
            <a:off x="290772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28"/>
          <p:cNvSpPr/>
          <p:nvPr/>
        </p:nvSpPr>
        <p:spPr>
          <a:xfrm>
            <a:off x="304488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29"/>
          <p:cNvSpPr/>
          <p:nvPr/>
        </p:nvSpPr>
        <p:spPr>
          <a:xfrm>
            <a:off x="18104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0"/>
          <p:cNvSpPr/>
          <p:nvPr/>
        </p:nvSpPr>
        <p:spPr>
          <a:xfrm>
            <a:off x="19476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31"/>
          <p:cNvSpPr/>
          <p:nvPr/>
        </p:nvSpPr>
        <p:spPr>
          <a:xfrm>
            <a:off x="208476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32"/>
          <p:cNvSpPr/>
          <p:nvPr/>
        </p:nvSpPr>
        <p:spPr>
          <a:xfrm>
            <a:off x="222192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3"/>
          <p:cNvSpPr/>
          <p:nvPr/>
        </p:nvSpPr>
        <p:spPr>
          <a:xfrm>
            <a:off x="235908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34"/>
          <p:cNvSpPr/>
          <p:nvPr/>
        </p:nvSpPr>
        <p:spPr>
          <a:xfrm>
            <a:off x="24962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35"/>
          <p:cNvSpPr/>
          <p:nvPr/>
        </p:nvSpPr>
        <p:spPr>
          <a:xfrm>
            <a:off x="26334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36"/>
          <p:cNvSpPr/>
          <p:nvPr/>
        </p:nvSpPr>
        <p:spPr>
          <a:xfrm>
            <a:off x="277056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37"/>
          <p:cNvSpPr/>
          <p:nvPr/>
        </p:nvSpPr>
        <p:spPr>
          <a:xfrm>
            <a:off x="290772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8"/>
          <p:cNvSpPr/>
          <p:nvPr/>
        </p:nvSpPr>
        <p:spPr>
          <a:xfrm>
            <a:off x="304488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39"/>
          <p:cNvSpPr/>
          <p:nvPr/>
        </p:nvSpPr>
        <p:spPr>
          <a:xfrm>
            <a:off x="18104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40"/>
          <p:cNvSpPr/>
          <p:nvPr/>
        </p:nvSpPr>
        <p:spPr>
          <a:xfrm>
            <a:off x="19476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1"/>
          <p:cNvSpPr/>
          <p:nvPr/>
        </p:nvSpPr>
        <p:spPr>
          <a:xfrm>
            <a:off x="20847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42"/>
          <p:cNvSpPr/>
          <p:nvPr/>
        </p:nvSpPr>
        <p:spPr>
          <a:xfrm>
            <a:off x="22219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43"/>
          <p:cNvSpPr/>
          <p:nvPr/>
        </p:nvSpPr>
        <p:spPr>
          <a:xfrm>
            <a:off x="23590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44"/>
          <p:cNvSpPr/>
          <p:nvPr/>
        </p:nvSpPr>
        <p:spPr>
          <a:xfrm>
            <a:off x="24962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45"/>
          <p:cNvSpPr/>
          <p:nvPr/>
        </p:nvSpPr>
        <p:spPr>
          <a:xfrm>
            <a:off x="26334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46"/>
          <p:cNvSpPr/>
          <p:nvPr/>
        </p:nvSpPr>
        <p:spPr>
          <a:xfrm>
            <a:off x="27705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47"/>
          <p:cNvSpPr/>
          <p:nvPr/>
        </p:nvSpPr>
        <p:spPr>
          <a:xfrm>
            <a:off x="29077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48"/>
          <p:cNvSpPr/>
          <p:nvPr/>
        </p:nvSpPr>
        <p:spPr>
          <a:xfrm>
            <a:off x="30448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49"/>
          <p:cNvSpPr/>
          <p:nvPr/>
        </p:nvSpPr>
        <p:spPr>
          <a:xfrm>
            <a:off x="4151160" y="2944080"/>
            <a:ext cx="23796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50"/>
          <p:cNvSpPr/>
          <p:nvPr/>
        </p:nvSpPr>
        <p:spPr>
          <a:xfrm>
            <a:off x="4544640" y="1874520"/>
            <a:ext cx="3154320" cy="2148480"/>
          </a:xfrm>
          <a:prstGeom prst="roundRect">
            <a:avLst>
              <a:gd name="adj" fmla="val 3404"/>
            </a:avLst>
          </a:prstGeom>
          <a:solidFill>
            <a:srgbClr val="071321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51"/>
          <p:cNvSpPr/>
          <p:nvPr/>
        </p:nvSpPr>
        <p:spPr>
          <a:xfrm>
            <a:off x="4754880" y="20847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2023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52"/>
          <p:cNvSpPr/>
          <p:nvPr/>
        </p:nvSpPr>
        <p:spPr>
          <a:xfrm>
            <a:off x="4754880" y="23590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Validation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3"/>
          <p:cNvSpPr/>
          <p:nvPr/>
        </p:nvSpPr>
        <p:spPr>
          <a:xfrm>
            <a:off x="4754880" y="26791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8B5CF6"/>
                </a:solidFill>
                <a:effectLst/>
                <a:uFillTx/>
                <a:latin typeface="Aptos Display"/>
                <a:ea typeface="Aptos Display"/>
              </a:rPr>
              <a:t>13 / 30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4"/>
          <p:cNvSpPr/>
          <p:nvPr/>
        </p:nvSpPr>
        <p:spPr>
          <a:xfrm>
            <a:off x="4754880" y="3090600"/>
            <a:ext cx="2742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netto positiv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55"/>
          <p:cNvSpPr/>
          <p:nvPr/>
        </p:nvSpPr>
        <p:spPr>
          <a:xfrm>
            <a:off x="551376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56"/>
          <p:cNvSpPr/>
          <p:nvPr/>
        </p:nvSpPr>
        <p:spPr>
          <a:xfrm>
            <a:off x="565092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57"/>
          <p:cNvSpPr/>
          <p:nvPr/>
        </p:nvSpPr>
        <p:spPr>
          <a:xfrm>
            <a:off x="578808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58"/>
          <p:cNvSpPr/>
          <p:nvPr/>
        </p:nvSpPr>
        <p:spPr>
          <a:xfrm>
            <a:off x="592524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59"/>
          <p:cNvSpPr/>
          <p:nvPr/>
        </p:nvSpPr>
        <p:spPr>
          <a:xfrm>
            <a:off x="606240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60"/>
          <p:cNvSpPr/>
          <p:nvPr/>
        </p:nvSpPr>
        <p:spPr>
          <a:xfrm>
            <a:off x="619956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61"/>
          <p:cNvSpPr/>
          <p:nvPr/>
        </p:nvSpPr>
        <p:spPr>
          <a:xfrm>
            <a:off x="633672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62"/>
          <p:cNvSpPr/>
          <p:nvPr/>
        </p:nvSpPr>
        <p:spPr>
          <a:xfrm>
            <a:off x="647388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63"/>
          <p:cNvSpPr/>
          <p:nvPr/>
        </p:nvSpPr>
        <p:spPr>
          <a:xfrm>
            <a:off x="661104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64"/>
          <p:cNvSpPr/>
          <p:nvPr/>
        </p:nvSpPr>
        <p:spPr>
          <a:xfrm>
            <a:off x="6748200" y="342900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65"/>
          <p:cNvSpPr/>
          <p:nvPr/>
        </p:nvSpPr>
        <p:spPr>
          <a:xfrm>
            <a:off x="5513760" y="356616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66"/>
          <p:cNvSpPr/>
          <p:nvPr/>
        </p:nvSpPr>
        <p:spPr>
          <a:xfrm>
            <a:off x="5650920" y="356616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67"/>
          <p:cNvSpPr/>
          <p:nvPr/>
        </p:nvSpPr>
        <p:spPr>
          <a:xfrm>
            <a:off x="5788080" y="3566160"/>
            <a:ext cx="100080" cy="100080"/>
          </a:xfrm>
          <a:prstGeom prst="ellipse">
            <a:avLst/>
          </a:prstGeom>
          <a:solidFill>
            <a:srgbClr val="8B5CF6"/>
          </a:solidFill>
          <a:ln w="381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68"/>
          <p:cNvSpPr/>
          <p:nvPr/>
        </p:nvSpPr>
        <p:spPr>
          <a:xfrm>
            <a:off x="59252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69"/>
          <p:cNvSpPr/>
          <p:nvPr/>
        </p:nvSpPr>
        <p:spPr>
          <a:xfrm>
            <a:off x="60624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70"/>
          <p:cNvSpPr/>
          <p:nvPr/>
        </p:nvSpPr>
        <p:spPr>
          <a:xfrm>
            <a:off x="619956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71"/>
          <p:cNvSpPr/>
          <p:nvPr/>
        </p:nvSpPr>
        <p:spPr>
          <a:xfrm>
            <a:off x="633672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72"/>
          <p:cNvSpPr/>
          <p:nvPr/>
        </p:nvSpPr>
        <p:spPr>
          <a:xfrm>
            <a:off x="647388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73"/>
          <p:cNvSpPr/>
          <p:nvPr/>
        </p:nvSpPr>
        <p:spPr>
          <a:xfrm>
            <a:off x="66110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74"/>
          <p:cNvSpPr/>
          <p:nvPr/>
        </p:nvSpPr>
        <p:spPr>
          <a:xfrm>
            <a:off x="67482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75"/>
          <p:cNvSpPr/>
          <p:nvPr/>
        </p:nvSpPr>
        <p:spPr>
          <a:xfrm>
            <a:off x="55137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76"/>
          <p:cNvSpPr/>
          <p:nvPr/>
        </p:nvSpPr>
        <p:spPr>
          <a:xfrm>
            <a:off x="56509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77"/>
          <p:cNvSpPr/>
          <p:nvPr/>
        </p:nvSpPr>
        <p:spPr>
          <a:xfrm>
            <a:off x="57880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78"/>
          <p:cNvSpPr/>
          <p:nvPr/>
        </p:nvSpPr>
        <p:spPr>
          <a:xfrm>
            <a:off x="59252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79"/>
          <p:cNvSpPr/>
          <p:nvPr/>
        </p:nvSpPr>
        <p:spPr>
          <a:xfrm>
            <a:off x="60624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80"/>
          <p:cNvSpPr/>
          <p:nvPr/>
        </p:nvSpPr>
        <p:spPr>
          <a:xfrm>
            <a:off x="61995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81"/>
          <p:cNvSpPr/>
          <p:nvPr/>
        </p:nvSpPr>
        <p:spPr>
          <a:xfrm>
            <a:off x="63367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82"/>
          <p:cNvSpPr/>
          <p:nvPr/>
        </p:nvSpPr>
        <p:spPr>
          <a:xfrm>
            <a:off x="64738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83"/>
          <p:cNvSpPr/>
          <p:nvPr/>
        </p:nvSpPr>
        <p:spPr>
          <a:xfrm>
            <a:off x="66110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84"/>
          <p:cNvSpPr/>
          <p:nvPr/>
        </p:nvSpPr>
        <p:spPr>
          <a:xfrm>
            <a:off x="67482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85"/>
          <p:cNvSpPr/>
          <p:nvPr/>
        </p:nvSpPr>
        <p:spPr>
          <a:xfrm>
            <a:off x="7854480" y="2944080"/>
            <a:ext cx="237960" cy="360"/>
          </a:xfrm>
          <a:prstGeom prst="line">
            <a:avLst/>
          </a:prstGeom>
          <a:ln w="1524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86"/>
          <p:cNvSpPr/>
          <p:nvPr/>
        </p:nvSpPr>
        <p:spPr>
          <a:xfrm>
            <a:off x="8247960" y="1874520"/>
            <a:ext cx="3154320" cy="2148480"/>
          </a:xfrm>
          <a:prstGeom prst="roundRect">
            <a:avLst>
              <a:gd name="adj" fmla="val 3404"/>
            </a:avLst>
          </a:prstGeom>
          <a:solidFill>
            <a:srgbClr val="071321"/>
          </a:solidFill>
          <a:ln w="1270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87"/>
          <p:cNvSpPr/>
          <p:nvPr/>
        </p:nvSpPr>
        <p:spPr>
          <a:xfrm>
            <a:off x="8458200" y="20847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3CE6A8"/>
                </a:solidFill>
                <a:effectLst/>
                <a:uFillTx/>
                <a:latin typeface="Aptos"/>
                <a:ea typeface="Aptos"/>
              </a:rPr>
              <a:t>2024–2025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88"/>
          <p:cNvSpPr/>
          <p:nvPr/>
        </p:nvSpPr>
        <p:spPr>
          <a:xfrm>
            <a:off x="8458200" y="23590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Finaler Test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89"/>
          <p:cNvSpPr/>
          <p:nvPr/>
        </p:nvSpPr>
        <p:spPr>
          <a:xfrm>
            <a:off x="8458200" y="26791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CE6A8"/>
                </a:solidFill>
                <a:effectLst/>
                <a:uFillTx/>
                <a:latin typeface="Aptos Display"/>
                <a:ea typeface="Aptos Display"/>
              </a:rPr>
              <a:t>3 / 30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90"/>
          <p:cNvSpPr/>
          <p:nvPr/>
        </p:nvSpPr>
        <p:spPr>
          <a:xfrm>
            <a:off x="8458200" y="3090600"/>
            <a:ext cx="2742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netto positiv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91"/>
          <p:cNvSpPr/>
          <p:nvPr/>
        </p:nvSpPr>
        <p:spPr>
          <a:xfrm>
            <a:off x="9217080" y="3429000"/>
            <a:ext cx="100080" cy="100080"/>
          </a:xfrm>
          <a:prstGeom prst="ellipse">
            <a:avLst/>
          </a:prstGeom>
          <a:solidFill>
            <a:srgbClr val="3CE6A8"/>
          </a:solidFill>
          <a:ln w="381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92"/>
          <p:cNvSpPr/>
          <p:nvPr/>
        </p:nvSpPr>
        <p:spPr>
          <a:xfrm>
            <a:off x="9354240" y="3429000"/>
            <a:ext cx="100080" cy="100080"/>
          </a:xfrm>
          <a:prstGeom prst="ellipse">
            <a:avLst/>
          </a:prstGeom>
          <a:solidFill>
            <a:srgbClr val="3CE6A8"/>
          </a:solidFill>
          <a:ln w="381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93"/>
          <p:cNvSpPr/>
          <p:nvPr/>
        </p:nvSpPr>
        <p:spPr>
          <a:xfrm>
            <a:off x="9491400" y="3429000"/>
            <a:ext cx="100080" cy="100080"/>
          </a:xfrm>
          <a:prstGeom prst="ellipse">
            <a:avLst/>
          </a:prstGeom>
          <a:solidFill>
            <a:srgbClr val="3CE6A8"/>
          </a:solidFill>
          <a:ln w="381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94"/>
          <p:cNvSpPr/>
          <p:nvPr/>
        </p:nvSpPr>
        <p:spPr>
          <a:xfrm>
            <a:off x="962856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95"/>
          <p:cNvSpPr/>
          <p:nvPr/>
        </p:nvSpPr>
        <p:spPr>
          <a:xfrm>
            <a:off x="976572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96"/>
          <p:cNvSpPr/>
          <p:nvPr/>
        </p:nvSpPr>
        <p:spPr>
          <a:xfrm>
            <a:off x="990288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97"/>
          <p:cNvSpPr/>
          <p:nvPr/>
        </p:nvSpPr>
        <p:spPr>
          <a:xfrm>
            <a:off x="1004004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98"/>
          <p:cNvSpPr/>
          <p:nvPr/>
        </p:nvSpPr>
        <p:spPr>
          <a:xfrm>
            <a:off x="1017720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99"/>
          <p:cNvSpPr/>
          <p:nvPr/>
        </p:nvSpPr>
        <p:spPr>
          <a:xfrm>
            <a:off x="1031436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00"/>
          <p:cNvSpPr/>
          <p:nvPr/>
        </p:nvSpPr>
        <p:spPr>
          <a:xfrm>
            <a:off x="10451520" y="342900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01"/>
          <p:cNvSpPr/>
          <p:nvPr/>
        </p:nvSpPr>
        <p:spPr>
          <a:xfrm>
            <a:off x="921708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102"/>
          <p:cNvSpPr/>
          <p:nvPr/>
        </p:nvSpPr>
        <p:spPr>
          <a:xfrm>
            <a:off x="93542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03"/>
          <p:cNvSpPr/>
          <p:nvPr/>
        </p:nvSpPr>
        <p:spPr>
          <a:xfrm>
            <a:off x="94914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04"/>
          <p:cNvSpPr/>
          <p:nvPr/>
        </p:nvSpPr>
        <p:spPr>
          <a:xfrm>
            <a:off x="962856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05"/>
          <p:cNvSpPr/>
          <p:nvPr/>
        </p:nvSpPr>
        <p:spPr>
          <a:xfrm>
            <a:off x="976572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06"/>
          <p:cNvSpPr/>
          <p:nvPr/>
        </p:nvSpPr>
        <p:spPr>
          <a:xfrm>
            <a:off x="990288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07"/>
          <p:cNvSpPr/>
          <p:nvPr/>
        </p:nvSpPr>
        <p:spPr>
          <a:xfrm>
            <a:off x="1004004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08"/>
          <p:cNvSpPr/>
          <p:nvPr/>
        </p:nvSpPr>
        <p:spPr>
          <a:xfrm>
            <a:off x="1017720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09"/>
          <p:cNvSpPr/>
          <p:nvPr/>
        </p:nvSpPr>
        <p:spPr>
          <a:xfrm>
            <a:off x="1031436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10"/>
          <p:cNvSpPr/>
          <p:nvPr/>
        </p:nvSpPr>
        <p:spPr>
          <a:xfrm>
            <a:off x="10451520" y="356616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111"/>
          <p:cNvSpPr/>
          <p:nvPr/>
        </p:nvSpPr>
        <p:spPr>
          <a:xfrm>
            <a:off x="92170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112"/>
          <p:cNvSpPr/>
          <p:nvPr/>
        </p:nvSpPr>
        <p:spPr>
          <a:xfrm>
            <a:off x="93542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13"/>
          <p:cNvSpPr/>
          <p:nvPr/>
        </p:nvSpPr>
        <p:spPr>
          <a:xfrm>
            <a:off x="94914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114"/>
          <p:cNvSpPr/>
          <p:nvPr/>
        </p:nvSpPr>
        <p:spPr>
          <a:xfrm>
            <a:off x="96285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15"/>
          <p:cNvSpPr/>
          <p:nvPr/>
        </p:nvSpPr>
        <p:spPr>
          <a:xfrm>
            <a:off x="97657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116"/>
          <p:cNvSpPr/>
          <p:nvPr/>
        </p:nvSpPr>
        <p:spPr>
          <a:xfrm>
            <a:off x="990288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17"/>
          <p:cNvSpPr/>
          <p:nvPr/>
        </p:nvSpPr>
        <p:spPr>
          <a:xfrm>
            <a:off x="1004004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118"/>
          <p:cNvSpPr/>
          <p:nvPr/>
        </p:nvSpPr>
        <p:spPr>
          <a:xfrm>
            <a:off x="1017720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19"/>
          <p:cNvSpPr/>
          <p:nvPr/>
        </p:nvSpPr>
        <p:spPr>
          <a:xfrm>
            <a:off x="1031436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20"/>
          <p:cNvSpPr/>
          <p:nvPr/>
        </p:nvSpPr>
        <p:spPr>
          <a:xfrm>
            <a:off x="10451520" y="3703320"/>
            <a:ext cx="100080" cy="100080"/>
          </a:xfrm>
          <a:prstGeom prst="ellipse">
            <a:avLst/>
          </a:prstGeom>
          <a:solidFill>
            <a:srgbClr val="0C2A40">
              <a:alpha val="55000"/>
            </a:srgbClr>
          </a:solidFill>
          <a:ln w="5080">
            <a:solidFill>
              <a:srgbClr val="14324A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21"/>
          <p:cNvSpPr/>
          <p:nvPr/>
        </p:nvSpPr>
        <p:spPr>
          <a:xfrm>
            <a:off x="1188720" y="4709160"/>
            <a:ext cx="9829440" cy="877320"/>
          </a:xfrm>
          <a:prstGeom prst="roundRect">
            <a:avLst>
              <a:gd name="adj" fmla="val 8333"/>
            </a:avLst>
          </a:prstGeom>
          <a:solidFill>
            <a:srgbClr val="0A1828"/>
          </a:solidFill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22"/>
          <p:cNvSpPr/>
          <p:nvPr/>
        </p:nvSpPr>
        <p:spPr>
          <a:xfrm>
            <a:off x="1554480" y="491940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Stabil positiv in allen drei Zeiträumen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23"/>
          <p:cNvSpPr/>
          <p:nvPr/>
        </p:nvSpPr>
        <p:spPr>
          <a:xfrm>
            <a:off x="6565320" y="4809600"/>
            <a:ext cx="1508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0 / 30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24"/>
          <p:cNvSpPr/>
          <p:nvPr/>
        </p:nvSpPr>
        <p:spPr>
          <a:xfrm>
            <a:off x="8339400" y="49194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Varianten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25"/>
          <p:cNvSpPr/>
          <p:nvPr/>
        </p:nvSpPr>
        <p:spPr>
          <a:xfrm>
            <a:off x="914400" y="5897880"/>
            <a:ext cx="10378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Stabilität über verschiedene Zeiträume ist wichtiger als ein einzelnes gutes Ergebnis.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10 · POWER BI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Ergebnisse verständlich sichtbar machen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Aus vielen einzelnen Ergebnissen wird eine analysierbare Übersicht.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4"/>
          <p:cNvSpPr/>
          <p:nvPr/>
        </p:nvSpPr>
        <p:spPr>
          <a:xfrm>
            <a:off x="777240" y="1874520"/>
            <a:ext cx="6583320" cy="4160160"/>
          </a:xfrm>
          <a:prstGeom prst="roundRect">
            <a:avLst>
              <a:gd name="adj" fmla="val 1758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  <a:effectLst>
            <a:outerShdw blurRad="25560" dist="1476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15"/>
          <p:cNvSpPr/>
          <p:nvPr/>
        </p:nvSpPr>
        <p:spPr>
          <a:xfrm>
            <a:off x="1097280" y="212148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POWER BI DASHBOARD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6"/>
          <p:cNvSpPr/>
          <p:nvPr/>
        </p:nvSpPr>
        <p:spPr>
          <a:xfrm>
            <a:off x="1097280" y="2514600"/>
            <a:ext cx="1508400" cy="731160"/>
          </a:xfrm>
          <a:prstGeom prst="roundRect">
            <a:avLst>
              <a:gd name="adj" fmla="val 10000"/>
            </a:avLst>
          </a:prstGeom>
          <a:solidFill>
            <a:srgbClr val="0A1828"/>
          </a:solidFill>
          <a:ln w="1016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7"/>
          <p:cNvSpPr/>
          <p:nvPr/>
        </p:nvSpPr>
        <p:spPr>
          <a:xfrm>
            <a:off x="1207080" y="2670120"/>
            <a:ext cx="1288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Netto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8"/>
          <p:cNvSpPr/>
          <p:nvPr/>
        </p:nvSpPr>
        <p:spPr>
          <a:xfrm>
            <a:off x="1207080" y="286200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5D7A"/>
                </a:solidFill>
                <a:effectLst/>
                <a:uFillTx/>
                <a:latin typeface="Aptos Display"/>
                <a:ea typeface="Aptos Display"/>
              </a:rPr>
              <a:t>−0,285 %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9"/>
          <p:cNvSpPr/>
          <p:nvPr/>
        </p:nvSpPr>
        <p:spPr>
          <a:xfrm>
            <a:off x="2880360" y="2514600"/>
            <a:ext cx="1508400" cy="731160"/>
          </a:xfrm>
          <a:prstGeom prst="roundRect">
            <a:avLst>
              <a:gd name="adj" fmla="val 10000"/>
            </a:avLst>
          </a:prstGeom>
          <a:solidFill>
            <a:srgbClr val="0A1828"/>
          </a:solidFill>
          <a:ln w="1016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0"/>
          <p:cNvSpPr/>
          <p:nvPr/>
        </p:nvSpPr>
        <p:spPr>
          <a:xfrm>
            <a:off x="2990160" y="2670120"/>
            <a:ext cx="1288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Stabil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21"/>
          <p:cNvSpPr/>
          <p:nvPr/>
        </p:nvSpPr>
        <p:spPr>
          <a:xfrm>
            <a:off x="2990160" y="286200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Aptos Display"/>
                <a:ea typeface="Aptos Display"/>
              </a:rPr>
              <a:t>0 / 30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22"/>
          <p:cNvSpPr/>
          <p:nvPr/>
        </p:nvSpPr>
        <p:spPr>
          <a:xfrm>
            <a:off x="4663440" y="2514600"/>
            <a:ext cx="1508400" cy="731160"/>
          </a:xfrm>
          <a:prstGeom prst="roundRect">
            <a:avLst>
              <a:gd name="adj" fmla="val 10000"/>
            </a:avLst>
          </a:prstGeom>
          <a:solidFill>
            <a:srgbClr val="0A1828"/>
          </a:solidFill>
          <a:ln w="1016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3"/>
          <p:cNvSpPr/>
          <p:nvPr/>
        </p:nvSpPr>
        <p:spPr>
          <a:xfrm>
            <a:off x="4773240" y="2670120"/>
            <a:ext cx="1288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Kosten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4"/>
          <p:cNvSpPr/>
          <p:nvPr/>
        </p:nvSpPr>
        <p:spPr>
          <a:xfrm>
            <a:off x="4773240" y="2862000"/>
            <a:ext cx="1288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9FF"/>
                </a:solidFill>
                <a:effectLst/>
                <a:uFillTx/>
                <a:latin typeface="Aptos Display"/>
                <a:ea typeface="Aptos Display"/>
              </a:rPr>
              <a:t>30 bp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5"/>
          <p:cNvSpPr/>
          <p:nvPr/>
        </p:nvSpPr>
        <p:spPr>
          <a:xfrm>
            <a:off x="1097280" y="3520440"/>
            <a:ext cx="2742840" cy="1481040"/>
          </a:xfrm>
          <a:prstGeom prst="roundRect">
            <a:avLst>
              <a:gd name="adj" fmla="val 4938"/>
            </a:avLst>
          </a:prstGeom>
          <a:solidFill>
            <a:srgbClr val="030914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26"/>
          <p:cNvSpPr/>
          <p:nvPr/>
        </p:nvSpPr>
        <p:spPr>
          <a:xfrm>
            <a:off x="1261800" y="3904200"/>
            <a:ext cx="233172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7"/>
          <p:cNvSpPr/>
          <p:nvPr/>
        </p:nvSpPr>
        <p:spPr>
          <a:xfrm>
            <a:off x="1261800" y="4078080"/>
            <a:ext cx="233172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28"/>
          <p:cNvSpPr/>
          <p:nvPr/>
        </p:nvSpPr>
        <p:spPr>
          <a:xfrm>
            <a:off x="1261800" y="4251960"/>
            <a:ext cx="233172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29"/>
          <p:cNvSpPr/>
          <p:nvPr/>
        </p:nvSpPr>
        <p:spPr>
          <a:xfrm>
            <a:off x="1261800" y="4425480"/>
            <a:ext cx="2331720" cy="360"/>
          </a:xfrm>
          <a:prstGeom prst="line">
            <a:avLst/>
          </a:prstGeom>
          <a:ln w="698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30"/>
          <p:cNvSpPr/>
          <p:nvPr/>
        </p:nvSpPr>
        <p:spPr>
          <a:xfrm flipV="1">
            <a:off x="1298160" y="4315680"/>
            <a:ext cx="302040" cy="13716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31"/>
          <p:cNvSpPr/>
          <p:nvPr/>
        </p:nvSpPr>
        <p:spPr>
          <a:xfrm>
            <a:off x="1600200" y="4315680"/>
            <a:ext cx="365760" cy="14652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32"/>
          <p:cNvSpPr/>
          <p:nvPr/>
        </p:nvSpPr>
        <p:spPr>
          <a:xfrm flipV="1">
            <a:off x="1965960" y="3977640"/>
            <a:ext cx="365760" cy="48456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33"/>
          <p:cNvSpPr/>
          <p:nvPr/>
        </p:nvSpPr>
        <p:spPr>
          <a:xfrm>
            <a:off x="2331720" y="3977640"/>
            <a:ext cx="365760" cy="24660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34"/>
          <p:cNvSpPr/>
          <p:nvPr/>
        </p:nvSpPr>
        <p:spPr>
          <a:xfrm flipV="1">
            <a:off x="2697480" y="3913560"/>
            <a:ext cx="365760" cy="31068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5"/>
          <p:cNvSpPr/>
          <p:nvPr/>
        </p:nvSpPr>
        <p:spPr>
          <a:xfrm>
            <a:off x="3063240" y="3913560"/>
            <a:ext cx="429480" cy="182880"/>
          </a:xfrm>
          <a:prstGeom prst="line">
            <a:avLst/>
          </a:prstGeom>
          <a:ln w="15240">
            <a:solidFill>
              <a:srgbClr val="27C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36"/>
          <p:cNvSpPr/>
          <p:nvPr/>
        </p:nvSpPr>
        <p:spPr>
          <a:xfrm>
            <a:off x="1298160" y="3977640"/>
            <a:ext cx="302040" cy="18288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37"/>
          <p:cNvSpPr/>
          <p:nvPr/>
        </p:nvSpPr>
        <p:spPr>
          <a:xfrm>
            <a:off x="1600200" y="4160520"/>
            <a:ext cx="365760" cy="11880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8"/>
          <p:cNvSpPr/>
          <p:nvPr/>
        </p:nvSpPr>
        <p:spPr>
          <a:xfrm>
            <a:off x="1965960" y="4279320"/>
            <a:ext cx="365760" cy="15552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9"/>
          <p:cNvSpPr/>
          <p:nvPr/>
        </p:nvSpPr>
        <p:spPr>
          <a:xfrm>
            <a:off x="2331720" y="4434840"/>
            <a:ext cx="365760" cy="9144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40"/>
          <p:cNvSpPr/>
          <p:nvPr/>
        </p:nvSpPr>
        <p:spPr>
          <a:xfrm>
            <a:off x="2697480" y="4526280"/>
            <a:ext cx="365760" cy="2736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41"/>
          <p:cNvSpPr/>
          <p:nvPr/>
        </p:nvSpPr>
        <p:spPr>
          <a:xfrm>
            <a:off x="3063240" y="4553640"/>
            <a:ext cx="429480" cy="54720"/>
          </a:xfrm>
          <a:prstGeom prst="line">
            <a:avLst/>
          </a:prstGeom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42"/>
          <p:cNvSpPr/>
          <p:nvPr/>
        </p:nvSpPr>
        <p:spPr>
          <a:xfrm>
            <a:off x="1261800" y="4718160"/>
            <a:ext cx="23313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Brutto → Netto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43"/>
          <p:cNvSpPr/>
          <p:nvPr/>
        </p:nvSpPr>
        <p:spPr>
          <a:xfrm>
            <a:off x="4224600" y="3520440"/>
            <a:ext cx="2605680" cy="1481040"/>
          </a:xfrm>
          <a:prstGeom prst="roundRect">
            <a:avLst>
              <a:gd name="adj" fmla="val 4938"/>
            </a:avLst>
          </a:prstGeom>
          <a:solidFill>
            <a:srgbClr val="030914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44"/>
          <p:cNvSpPr/>
          <p:nvPr/>
        </p:nvSpPr>
        <p:spPr>
          <a:xfrm>
            <a:off x="4517280" y="4389120"/>
            <a:ext cx="200880" cy="228240"/>
          </a:xfrm>
          <a:prstGeom prst="rect">
            <a:avLst/>
          </a:prstGeom>
          <a:solidFill>
            <a:srgbClr val="00D9FF">
              <a:alpha val="85000"/>
            </a:srgbClr>
          </a:solidFill>
          <a:ln w="50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5"/>
          <p:cNvSpPr/>
          <p:nvPr/>
        </p:nvSpPr>
        <p:spPr>
          <a:xfrm>
            <a:off x="4928760" y="3959280"/>
            <a:ext cx="200880" cy="658080"/>
          </a:xfrm>
          <a:prstGeom prst="rect">
            <a:avLst/>
          </a:prstGeom>
          <a:solidFill>
            <a:srgbClr val="8B5CF6">
              <a:alpha val="85000"/>
            </a:srgbClr>
          </a:solidFill>
          <a:ln w="508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46"/>
          <p:cNvSpPr/>
          <p:nvPr/>
        </p:nvSpPr>
        <p:spPr>
          <a:xfrm>
            <a:off x="5340240" y="4480560"/>
            <a:ext cx="200880" cy="136800"/>
          </a:xfrm>
          <a:prstGeom prst="rect">
            <a:avLst/>
          </a:prstGeom>
          <a:solidFill>
            <a:srgbClr val="00D9FF">
              <a:alpha val="85000"/>
            </a:srgbClr>
          </a:solidFill>
          <a:ln w="50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47"/>
          <p:cNvSpPr/>
          <p:nvPr/>
        </p:nvSpPr>
        <p:spPr>
          <a:xfrm>
            <a:off x="5751720" y="4114800"/>
            <a:ext cx="200880" cy="502560"/>
          </a:xfrm>
          <a:prstGeom prst="rect">
            <a:avLst/>
          </a:prstGeom>
          <a:solidFill>
            <a:srgbClr val="00D9FF">
              <a:alpha val="85000"/>
            </a:srgbClr>
          </a:solidFill>
          <a:ln w="50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48"/>
          <p:cNvSpPr/>
          <p:nvPr/>
        </p:nvSpPr>
        <p:spPr>
          <a:xfrm>
            <a:off x="6163200" y="4316040"/>
            <a:ext cx="200880" cy="301320"/>
          </a:xfrm>
          <a:prstGeom prst="rect">
            <a:avLst/>
          </a:prstGeom>
          <a:solidFill>
            <a:srgbClr val="00D9FF">
              <a:alpha val="85000"/>
            </a:srgbClr>
          </a:solidFill>
          <a:ln w="508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49"/>
          <p:cNvSpPr/>
          <p:nvPr/>
        </p:nvSpPr>
        <p:spPr>
          <a:xfrm>
            <a:off x="4434840" y="4718160"/>
            <a:ext cx="21027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Signalvergleich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50"/>
          <p:cNvSpPr/>
          <p:nvPr/>
        </p:nvSpPr>
        <p:spPr>
          <a:xfrm>
            <a:off x="7909560" y="205740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Damit kann ich gezielt fragen: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51"/>
          <p:cNvSpPr/>
          <p:nvPr/>
        </p:nvSpPr>
        <p:spPr>
          <a:xfrm>
            <a:off x="7909560" y="2560320"/>
            <a:ext cx="3337200" cy="585000"/>
          </a:xfrm>
          <a:prstGeom prst="roundRect">
            <a:avLst>
              <a:gd name="adj" fmla="val 12500"/>
            </a:avLst>
          </a:prstGeom>
          <a:solidFill>
            <a:srgbClr val="0A1828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52"/>
          <p:cNvSpPr/>
          <p:nvPr/>
        </p:nvSpPr>
        <p:spPr>
          <a:xfrm>
            <a:off x="8101440" y="2743200"/>
            <a:ext cx="328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53"/>
          <p:cNvSpPr/>
          <p:nvPr/>
        </p:nvSpPr>
        <p:spPr>
          <a:xfrm>
            <a:off x="8549640" y="2706480"/>
            <a:ext cx="2468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Was passiert nach Kosten?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54"/>
          <p:cNvSpPr/>
          <p:nvPr/>
        </p:nvSpPr>
        <p:spPr>
          <a:xfrm>
            <a:off x="7909560" y="3401640"/>
            <a:ext cx="3337200" cy="585000"/>
          </a:xfrm>
          <a:prstGeom prst="roundRect">
            <a:avLst>
              <a:gd name="adj" fmla="val 12500"/>
            </a:avLst>
          </a:prstGeom>
          <a:solidFill>
            <a:srgbClr val="0A1828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55"/>
          <p:cNvSpPr/>
          <p:nvPr/>
        </p:nvSpPr>
        <p:spPr>
          <a:xfrm>
            <a:off x="8101440" y="3584520"/>
            <a:ext cx="328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56"/>
          <p:cNvSpPr/>
          <p:nvPr/>
        </p:nvSpPr>
        <p:spPr>
          <a:xfrm>
            <a:off x="8549640" y="3547800"/>
            <a:ext cx="2468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Welches Signal unterscheidet sich?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57"/>
          <p:cNvSpPr/>
          <p:nvPr/>
        </p:nvSpPr>
        <p:spPr>
          <a:xfrm>
            <a:off x="7909560" y="4242960"/>
            <a:ext cx="3337200" cy="585000"/>
          </a:xfrm>
          <a:prstGeom prst="roundRect">
            <a:avLst>
              <a:gd name="adj" fmla="val 12500"/>
            </a:avLst>
          </a:prstGeom>
          <a:solidFill>
            <a:srgbClr val="0A1828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58"/>
          <p:cNvSpPr/>
          <p:nvPr/>
        </p:nvSpPr>
        <p:spPr>
          <a:xfrm>
            <a:off x="8101440" y="4425840"/>
            <a:ext cx="328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59"/>
          <p:cNvSpPr/>
          <p:nvPr/>
        </p:nvSpPr>
        <p:spPr>
          <a:xfrm>
            <a:off x="8549640" y="4389120"/>
            <a:ext cx="2468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4F8FC"/>
                </a:solidFill>
                <a:effectLst/>
                <a:uFillTx/>
                <a:latin typeface="Aptos"/>
                <a:ea typeface="Aptos"/>
              </a:rPr>
              <a:t>Sind die Ergebnisse stabil?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60"/>
          <p:cNvSpPr/>
          <p:nvPr/>
        </p:nvSpPr>
        <p:spPr>
          <a:xfrm>
            <a:off x="1005840" y="5532120"/>
            <a:ext cx="1051200" cy="25560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762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61"/>
          <p:cNvSpPr/>
          <p:nvPr/>
        </p:nvSpPr>
        <p:spPr>
          <a:xfrm>
            <a:off x="1042560" y="5614560"/>
            <a:ext cx="9781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9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Ergebnisübersicht</a:t>
            </a:r>
            <a:endParaRPr lang="en-US" sz="46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62"/>
          <p:cNvSpPr/>
          <p:nvPr/>
        </p:nvSpPr>
        <p:spPr>
          <a:xfrm>
            <a:off x="2240280" y="5532120"/>
            <a:ext cx="1051200" cy="25560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762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63"/>
          <p:cNvSpPr/>
          <p:nvPr/>
        </p:nvSpPr>
        <p:spPr>
          <a:xfrm>
            <a:off x="2277000" y="5614560"/>
            <a:ext cx="9781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9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Signalvergleich</a:t>
            </a:r>
            <a:endParaRPr lang="en-US" sz="46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64"/>
          <p:cNvSpPr/>
          <p:nvPr/>
        </p:nvSpPr>
        <p:spPr>
          <a:xfrm>
            <a:off x="3474720" y="5532120"/>
            <a:ext cx="1051200" cy="25560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762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65"/>
          <p:cNvSpPr/>
          <p:nvPr/>
        </p:nvSpPr>
        <p:spPr>
          <a:xfrm>
            <a:off x="3511440" y="5614560"/>
            <a:ext cx="9781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9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Stabilität</a:t>
            </a:r>
            <a:endParaRPr lang="en-US" sz="46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66"/>
          <p:cNvSpPr/>
          <p:nvPr/>
        </p:nvSpPr>
        <p:spPr>
          <a:xfrm>
            <a:off x="4709160" y="5532120"/>
            <a:ext cx="1051200" cy="25560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762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67"/>
          <p:cNvSpPr/>
          <p:nvPr/>
        </p:nvSpPr>
        <p:spPr>
          <a:xfrm>
            <a:off x="4745880" y="5614560"/>
            <a:ext cx="9781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9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Marktumfeld</a:t>
            </a:r>
            <a:endParaRPr lang="en-US" sz="46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68"/>
          <p:cNvSpPr/>
          <p:nvPr/>
        </p:nvSpPr>
        <p:spPr>
          <a:xfrm>
            <a:off x="5943600" y="5532120"/>
            <a:ext cx="1051200" cy="255600"/>
          </a:xfrm>
          <a:prstGeom prst="roundRect">
            <a:avLst>
              <a:gd name="adj" fmla="val 14286"/>
            </a:avLst>
          </a:prstGeom>
          <a:solidFill>
            <a:srgbClr val="0A1828"/>
          </a:solidFill>
          <a:ln w="762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69"/>
          <p:cNvSpPr/>
          <p:nvPr/>
        </p:nvSpPr>
        <p:spPr>
          <a:xfrm>
            <a:off x="5980320" y="5614560"/>
            <a:ext cx="978120" cy="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9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Datenqualität</a:t>
            </a:r>
            <a:endParaRPr lang="en-US" sz="46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70"/>
          <p:cNvSpPr/>
          <p:nvPr/>
        </p:nvSpPr>
        <p:spPr>
          <a:xfrm>
            <a:off x="7726680" y="55962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Power BI war nicht nur Darstellung – es war ein Werkzeug zum Prüfen und Vergleichen.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30914"/>
          </a:solidFill>
          <a:ln w="12700">
            <a:solidFill>
              <a:srgbClr val="03091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1"/>
          <p:cNvSpPr/>
          <p:nvPr/>
        </p:nvSpPr>
        <p:spPr>
          <a:xfrm>
            <a:off x="0" y="0"/>
            <a:ext cx="12191760" cy="543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2"/>
          <p:cNvSpPr/>
          <p:nvPr/>
        </p:nvSpPr>
        <p:spPr>
          <a:xfrm>
            <a:off x="6812280" y="50292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3"/>
          <p:cNvSpPr/>
          <p:nvPr/>
        </p:nvSpPr>
        <p:spPr>
          <a:xfrm>
            <a:off x="6812280" y="1216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4"/>
          <p:cNvSpPr/>
          <p:nvPr/>
        </p:nvSpPr>
        <p:spPr>
          <a:xfrm>
            <a:off x="6812280" y="192924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5"/>
          <p:cNvSpPr/>
          <p:nvPr/>
        </p:nvSpPr>
        <p:spPr>
          <a:xfrm>
            <a:off x="6812280" y="264240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6"/>
          <p:cNvSpPr/>
          <p:nvPr/>
        </p:nvSpPr>
        <p:spPr>
          <a:xfrm>
            <a:off x="6812280" y="335556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7"/>
          <p:cNvSpPr/>
          <p:nvPr/>
        </p:nvSpPr>
        <p:spPr>
          <a:xfrm>
            <a:off x="6812280" y="4069080"/>
            <a:ext cx="4818600" cy="360"/>
          </a:xfrm>
          <a:prstGeom prst="line">
            <a:avLst/>
          </a:prstGeom>
          <a:ln w="5715">
            <a:solidFill>
              <a:srgbClr val="14324A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8"/>
          <p:cNvSpPr/>
          <p:nvPr/>
        </p:nvSpPr>
        <p:spPr>
          <a:xfrm>
            <a:off x="567000" y="6537960"/>
            <a:ext cx="3108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DSP • CRYPTO ENTRY INTELLIGENCE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9"/>
          <p:cNvSpPr/>
          <p:nvPr/>
        </p:nvSpPr>
        <p:spPr>
          <a:xfrm>
            <a:off x="9189720" y="653796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DATA ANALYTICS • ABSCHLUSSPROJEKT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0"/>
          <p:cNvSpPr/>
          <p:nvPr/>
        </p:nvSpPr>
        <p:spPr>
          <a:xfrm>
            <a:off x="11685960" y="64738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1"/>
          <p:cNvSpPr/>
          <p:nvPr/>
        </p:nvSpPr>
        <p:spPr>
          <a:xfrm>
            <a:off x="621720" y="43884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11 · FAZIT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2"/>
          <p:cNvSpPr/>
          <p:nvPr/>
        </p:nvSpPr>
        <p:spPr>
          <a:xfrm>
            <a:off x="621720" y="74988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Fazit und Grenzen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3"/>
          <p:cNvSpPr/>
          <p:nvPr/>
        </p:nvSpPr>
        <p:spPr>
          <a:xfrm>
            <a:off x="621720" y="134424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Nicht einzelne schöne Charts entscheiden, sondern eine saubere Datenanalyse.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4"/>
          <p:cNvSpPr/>
          <p:nvPr/>
        </p:nvSpPr>
        <p:spPr>
          <a:xfrm>
            <a:off x="1920240" y="2423160"/>
            <a:ext cx="566640" cy="360"/>
          </a:xfrm>
          <a:prstGeom prst="line">
            <a:avLst/>
          </a:prstGeom>
          <a:ln w="1397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5"/>
          <p:cNvSpPr/>
          <p:nvPr/>
        </p:nvSpPr>
        <p:spPr>
          <a:xfrm>
            <a:off x="3840480" y="2423160"/>
            <a:ext cx="566640" cy="360"/>
          </a:xfrm>
          <a:prstGeom prst="line">
            <a:avLst/>
          </a:prstGeom>
          <a:ln w="1397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6"/>
          <p:cNvSpPr/>
          <p:nvPr/>
        </p:nvSpPr>
        <p:spPr>
          <a:xfrm>
            <a:off x="5760720" y="2423160"/>
            <a:ext cx="566640" cy="360"/>
          </a:xfrm>
          <a:prstGeom prst="line">
            <a:avLst/>
          </a:prstGeom>
          <a:ln w="1397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7"/>
          <p:cNvSpPr/>
          <p:nvPr/>
        </p:nvSpPr>
        <p:spPr>
          <a:xfrm>
            <a:off x="7680960" y="2423160"/>
            <a:ext cx="566640" cy="360"/>
          </a:xfrm>
          <a:prstGeom prst="line">
            <a:avLst/>
          </a:prstGeom>
          <a:ln w="13970">
            <a:solidFill>
              <a:srgbClr val="274B6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8"/>
          <p:cNvSpPr/>
          <p:nvPr/>
        </p:nvSpPr>
        <p:spPr>
          <a:xfrm>
            <a:off x="822960" y="1993320"/>
            <a:ext cx="1005480" cy="10054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9"/>
          <p:cNvSpPr/>
          <p:nvPr/>
        </p:nvSpPr>
        <p:spPr>
          <a:xfrm>
            <a:off x="914400" y="2267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Signal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0"/>
          <p:cNvSpPr/>
          <p:nvPr/>
        </p:nvSpPr>
        <p:spPr>
          <a:xfrm>
            <a:off x="731520" y="30906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anschauen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21"/>
          <p:cNvSpPr/>
          <p:nvPr/>
        </p:nvSpPr>
        <p:spPr>
          <a:xfrm>
            <a:off x="2743200" y="1993320"/>
            <a:ext cx="1005480" cy="10054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3C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2"/>
          <p:cNvSpPr/>
          <p:nvPr/>
        </p:nvSpPr>
        <p:spPr>
          <a:xfrm>
            <a:off x="2834640" y="2267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Daten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3"/>
          <p:cNvSpPr/>
          <p:nvPr/>
        </p:nvSpPr>
        <p:spPr>
          <a:xfrm>
            <a:off x="2651760" y="30906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prüfen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24"/>
          <p:cNvSpPr/>
          <p:nvPr/>
        </p:nvSpPr>
        <p:spPr>
          <a:xfrm>
            <a:off x="4663440" y="1993320"/>
            <a:ext cx="1005480" cy="10054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5"/>
          <p:cNvSpPr/>
          <p:nvPr/>
        </p:nvSpPr>
        <p:spPr>
          <a:xfrm>
            <a:off x="4754880" y="2267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Kosten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6"/>
          <p:cNvSpPr/>
          <p:nvPr/>
        </p:nvSpPr>
        <p:spPr>
          <a:xfrm>
            <a:off x="4572000" y="30906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berücksichtigen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7"/>
          <p:cNvSpPr/>
          <p:nvPr/>
        </p:nvSpPr>
        <p:spPr>
          <a:xfrm>
            <a:off x="6583680" y="1993320"/>
            <a:ext cx="1005480" cy="10054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28"/>
          <p:cNvSpPr/>
          <p:nvPr/>
        </p:nvSpPr>
        <p:spPr>
          <a:xfrm>
            <a:off x="6675120" y="2267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Stabilität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29"/>
          <p:cNvSpPr/>
          <p:nvPr/>
        </p:nvSpPr>
        <p:spPr>
          <a:xfrm>
            <a:off x="6492240" y="30906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prüfen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0"/>
          <p:cNvSpPr/>
          <p:nvPr/>
        </p:nvSpPr>
        <p:spPr>
          <a:xfrm>
            <a:off x="8503920" y="1993320"/>
            <a:ext cx="1005480" cy="10054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31"/>
          <p:cNvSpPr/>
          <p:nvPr/>
        </p:nvSpPr>
        <p:spPr>
          <a:xfrm>
            <a:off x="8595360" y="226764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Ergebnis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32"/>
          <p:cNvSpPr/>
          <p:nvPr/>
        </p:nvSpPr>
        <p:spPr>
          <a:xfrm>
            <a:off x="8412480" y="30906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bewerten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33"/>
          <p:cNvSpPr/>
          <p:nvPr/>
        </p:nvSpPr>
        <p:spPr>
          <a:xfrm>
            <a:off x="868680" y="3886200"/>
            <a:ext cx="315432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00D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34"/>
          <p:cNvSpPr/>
          <p:nvPr/>
        </p:nvSpPr>
        <p:spPr>
          <a:xfrm>
            <a:off x="1069920" y="411480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35"/>
          <p:cNvSpPr/>
          <p:nvPr/>
        </p:nvSpPr>
        <p:spPr>
          <a:xfrm>
            <a:off x="1435680" y="4050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Gutes Signal im Chart reicht nicht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36"/>
          <p:cNvSpPr/>
          <p:nvPr/>
        </p:nvSpPr>
        <p:spPr>
          <a:xfrm>
            <a:off x="1435680" y="43707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 einzelner guter Zeitraum beweist keine zuverlässige Regel.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37"/>
          <p:cNvSpPr/>
          <p:nvPr/>
        </p:nvSpPr>
        <p:spPr>
          <a:xfrm>
            <a:off x="4572000" y="3886200"/>
            <a:ext cx="315432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FF5D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38"/>
          <p:cNvSpPr/>
          <p:nvPr/>
        </p:nvSpPr>
        <p:spPr>
          <a:xfrm>
            <a:off x="4773240" y="411480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5D7A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9"/>
          <p:cNvSpPr/>
          <p:nvPr/>
        </p:nvSpPr>
        <p:spPr>
          <a:xfrm>
            <a:off x="5139000" y="4050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Kosten verändern das Ergebnis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40"/>
          <p:cNvSpPr/>
          <p:nvPr/>
        </p:nvSpPr>
        <p:spPr>
          <a:xfrm>
            <a:off x="5139000" y="43707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Kleine positive Bewegungen können netto negativ werden.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41"/>
          <p:cNvSpPr/>
          <p:nvPr/>
        </p:nvSpPr>
        <p:spPr>
          <a:xfrm>
            <a:off x="8275320" y="3886200"/>
            <a:ext cx="3154320" cy="1051200"/>
          </a:xfrm>
          <a:prstGeom prst="roundRect">
            <a:avLst>
              <a:gd name="adj" fmla="val 6957"/>
            </a:avLst>
          </a:prstGeom>
          <a:solidFill>
            <a:srgbClr val="071321"/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42"/>
          <p:cNvSpPr/>
          <p:nvPr/>
        </p:nvSpPr>
        <p:spPr>
          <a:xfrm>
            <a:off x="8476560" y="411480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5CF6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43"/>
          <p:cNvSpPr/>
          <p:nvPr/>
        </p:nvSpPr>
        <p:spPr>
          <a:xfrm>
            <a:off x="8842320" y="4050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Stabilität ist entscheidend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44"/>
          <p:cNvSpPr/>
          <p:nvPr/>
        </p:nvSpPr>
        <p:spPr>
          <a:xfrm>
            <a:off x="8842320" y="43707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Ein Ergebnis muss auch in anderen Zeiträumen tragen.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45"/>
          <p:cNvSpPr/>
          <p:nvPr/>
        </p:nvSpPr>
        <p:spPr>
          <a:xfrm>
            <a:off x="868680" y="5349240"/>
            <a:ext cx="5257440" cy="594000"/>
          </a:xfrm>
          <a:prstGeom prst="roundRect">
            <a:avLst>
              <a:gd name="adj" fmla="val 12308"/>
            </a:avLst>
          </a:prstGeom>
          <a:solidFill>
            <a:srgbClr val="0A1828"/>
          </a:solidFill>
          <a:ln w="12700">
            <a:solidFill>
              <a:srgbClr val="274B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46"/>
          <p:cNvSpPr/>
          <p:nvPr/>
        </p:nvSpPr>
        <p:spPr>
          <a:xfrm>
            <a:off x="1078920" y="5513760"/>
            <a:ext cx="776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D9FF"/>
                </a:solidFill>
                <a:effectLst/>
                <a:uFillTx/>
                <a:latin typeface="Aptos"/>
                <a:ea typeface="Aptos"/>
              </a:rPr>
              <a:t>Grenzen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47"/>
          <p:cNvSpPr/>
          <p:nvPr/>
        </p:nvSpPr>
        <p:spPr>
          <a:xfrm>
            <a:off x="1920240" y="5513760"/>
            <a:ext cx="388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B7C5D5"/>
                </a:solidFill>
                <a:effectLst/>
                <a:uFillTx/>
                <a:latin typeface="Aptos"/>
                <a:ea typeface="Aptos"/>
              </a:rPr>
              <a:t>historische Daten ≠ Zukunftsgarantie · fünf Einzelregeln, keine fertige Trading-Strategie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48"/>
          <p:cNvSpPr/>
          <p:nvPr/>
        </p:nvSpPr>
        <p:spPr>
          <a:xfrm>
            <a:off x="6446520" y="54133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8FC"/>
                </a:solidFill>
                <a:effectLst/>
                <a:uFillTx/>
                <a:latin typeface="Aptos Display"/>
                <a:ea typeface="Aptos Display"/>
              </a:rPr>
              <a:t>Erst mit Daten prüfen – dann bewerten.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49"/>
          <p:cNvSpPr/>
          <p:nvPr/>
        </p:nvSpPr>
        <p:spPr>
          <a:xfrm>
            <a:off x="6903720" y="590688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59B"/>
                </a:solidFill>
                <a:effectLst/>
                <a:uFillTx/>
                <a:latin typeface="Aptos"/>
                <a:ea typeface="Aptos"/>
              </a:rPr>
              <a:t>Vielen Dank für Ihre Aufmerksamkeit.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1062</Words>
  <Application>Microsoft Office PowerPoint</Application>
  <PresentationFormat>Breitbild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 Amin Zamen Ali</cp:lastModifiedBy>
  <cp:revision>2</cp:revision>
  <dcterms:modified xsi:type="dcterms:W3CDTF">2026-08-24T16:36:14Z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2026-08-14T06:56:20Z</dcterms:created>
  <dc:creator>OpenAI</dc:creator>
  <dc:description/>
  <dc:language>en-US</dc:language>
  <cp:lastModifiedBy>OpenAI</cp:lastModifiedBy>
  <dcterms:modified xsi:type="dcterms:W3CDTF">2026-08-14T06:56:20Z</dcterms:modified>
  <cp:revision>1</cp:revision>
  <dc:subject>DSP Crypto Entry Intelligence Abschlussprojekt</dc:subject>
  <dc:title>Crypto Entry Intelligence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